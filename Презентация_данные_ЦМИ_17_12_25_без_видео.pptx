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5" r:id="rId11"/>
    <p:sldId id="266" r:id="rId12"/>
    <p:sldId id="267" r:id="rId13"/>
    <p:sldId id="269" r:id="rId14"/>
    <p:sldId id="283" r:id="rId15"/>
    <p:sldId id="270" r:id="rId16"/>
    <p:sldId id="284" r:id="rId17"/>
    <p:sldId id="271" r:id="rId18"/>
    <p:sldId id="272" r:id="rId19"/>
    <p:sldId id="273" r:id="rId20"/>
    <p:sldId id="275" r:id="rId21"/>
    <p:sldId id="274" r:id="rId22"/>
    <p:sldId id="286" r:id="rId23"/>
    <p:sldId id="276" r:id="rId24"/>
    <p:sldId id="277" r:id="rId25"/>
    <p:sldId id="282" r:id="rId26"/>
    <p:sldId id="278" r:id="rId27"/>
    <p:sldId id="279" r:id="rId28"/>
    <p:sldId id="287" r:id="rId29"/>
    <p:sldId id="280" r:id="rId30"/>
    <p:sldId id="281" r:id="rId31"/>
    <p:sldId id="288" r:id="rId32"/>
    <p:sldId id="289" r:id="rId33"/>
    <p:sldId id="290" r:id="rId34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81" autoAdjust="0"/>
  </p:normalViewPr>
  <p:slideViewPr>
    <p:cSldViewPr>
      <p:cViewPr varScale="1">
        <p:scale>
          <a:sx n="137" d="100"/>
          <a:sy n="137" d="100"/>
        </p:scale>
        <p:origin x="786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D664-3B17-4843-AB2A-C18AB2C62F52}" type="datetimeFigureOut">
              <a:rPr lang="ru-RU" smtClean="0"/>
              <a:t>17.12.2025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7534E-DE98-409D-A4A2-4CC0FE179F1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7811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2D859-123F-4403-A3D9-2CF96D99386B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90E2-1178-47AF-82DE-3744738B2545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C999-47E0-46CB-AE4D-184B50DCCF0E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19AE-0784-499B-9707-FB3D45D86F24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3BBA-A9E6-46B7-AB7A-A8FD5730AF65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9204-741F-488A-9E52-ED5628B6C4B1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FE4-6191-4676-8E87-36708A2A1BCF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6CA1-F8AC-400E-ABAE-E9BC023E8BB0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827D-A55A-488E-BAAB-B8CE5284EFEA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5F79-B9B5-4FF7-B3BC-C71F70DEDF9A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04C6-48AD-4CE9-8473-2A81D58D00BC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497C2-FA7C-4C77-8DB4-72D9C5834906}" type="datetime1">
              <a:rPr lang="ru-RU" smtClean="0"/>
              <a:t>17.12.2025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g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jpg"/><Relationship Id="rId4" Type="http://schemas.openxmlformats.org/officeDocument/2006/relationships/image" Target="../media/image8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jpeg"/><Relationship Id="rId4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gif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500" b="1" dirty="0">
                <a:latin typeface="Helvetica" pitchFamily="2" charset="0"/>
              </a:rPr>
              <a:t>Океан цифр: визуализация и машинное обучение в анализе морских данных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377180"/>
          </a:xfrm>
        </p:spPr>
        <p:txBody>
          <a:bodyPr>
            <a:normAutofit lnSpcReduction="10000"/>
          </a:bodyPr>
          <a:lstStyle/>
          <a:p>
            <a:r>
              <a:rPr lang="ru-RU" sz="2000" dirty="0">
                <a:solidFill>
                  <a:schemeClr val="tx1"/>
                </a:solidFill>
                <a:latin typeface="Helvetica" pitchFamily="2" charset="0"/>
              </a:rPr>
              <a:t>Владислав Козловский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4" name="Picture 11" descr="C:\Users\79961\Downloads\logo_cmi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0" t="15859" r="9110" b="14870"/>
          <a:stretch/>
        </p:blipFill>
        <p:spPr bwMode="auto">
          <a:xfrm>
            <a:off x="4205113" y="3867894"/>
            <a:ext cx="1014959" cy="49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164288" y="4753476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Helvetica" pitchFamily="2" charset="0"/>
              </a:rPr>
              <a:t>17 декабря 2025</a:t>
            </a:r>
          </a:p>
        </p:txBody>
      </p:sp>
    </p:spTree>
    <p:extLst>
      <p:ext uri="{BB962C8B-B14F-4D97-AF65-F5344CB8AC3E}">
        <p14:creationId xmlns:p14="http://schemas.microsoft.com/office/powerpoint/2010/main" val="1757246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67494"/>
            <a:ext cx="8579296" cy="857250"/>
          </a:xfrm>
        </p:spPr>
        <p:txBody>
          <a:bodyPr>
            <a:normAutofit/>
          </a:bodyPr>
          <a:lstStyle/>
          <a:p>
            <a:r>
              <a:rPr lang="ru-RU" sz="2100" b="1" dirty="0">
                <a:latin typeface="Helvetica" pitchFamily="2" charset="0"/>
              </a:rPr>
              <a:t>Вопросы анализа морских экологических данных</a:t>
            </a:r>
            <a:endParaRPr lang="ru-RU" sz="21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C2BBE6-E325-A461-5A01-B807EDC1C78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39552" y="1203598"/>
            <a:ext cx="784887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Helvetica" pitchFamily="2" charset="0"/>
              </a:rPr>
              <a:t>Показатели качества морской среды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Helvetica" pitchFamily="2" charset="0"/>
              </a:rPr>
              <a:t>Стандартные подходы к аналитике гидробиологических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Helvetica" pitchFamily="2" charset="0"/>
              </a:rPr>
              <a:t>Визуализации морских экологических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Helvetica" pitchFamily="2" charset="0"/>
              </a:rPr>
              <a:t>Компьютерное зрение в гидробиологии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Helvetica" pitchFamily="2" charset="0"/>
              </a:rPr>
              <a:t>Картирование в контексте различных экологических данных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313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23478"/>
            <a:ext cx="8579296" cy="432048"/>
          </a:xfrm>
        </p:spPr>
        <p:txBody>
          <a:bodyPr>
            <a:normAutofit/>
          </a:bodyPr>
          <a:lstStyle/>
          <a:p>
            <a:r>
              <a:rPr lang="ru-RU" sz="2100" b="1" dirty="0">
                <a:latin typeface="Helvetica" pitchFamily="2" charset="0"/>
              </a:rPr>
              <a:t>Вопросы анализа морских экологических данных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96516" y="627534"/>
            <a:ext cx="3656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Helvetica" pitchFamily="2" charset="0"/>
              </a:rPr>
              <a:t>Возможные подразделения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576" y="1070342"/>
            <a:ext cx="273630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latin typeface="Helvetica" pitchFamily="2" charset="0"/>
              </a:rPr>
              <a:t>Дискретные</a:t>
            </a:r>
          </a:p>
          <a:p>
            <a:r>
              <a:rPr lang="ru-RU" sz="1000" dirty="0">
                <a:latin typeface="Helvetica" pitchFamily="2" charset="0"/>
              </a:rPr>
              <a:t>Пункты отбора проб в экспедициях </a:t>
            </a:r>
          </a:p>
          <a:p>
            <a:r>
              <a:rPr lang="ru-RU" sz="1000" dirty="0">
                <a:latin typeface="Helvetica" pitchFamily="2" charset="0"/>
              </a:rPr>
              <a:t>Точки встреч птиц, млекопитающих</a:t>
            </a:r>
          </a:p>
          <a:p>
            <a:r>
              <a:rPr lang="ru-RU" sz="1000" dirty="0">
                <a:latin typeface="Helvetica" pitchFamily="2" charset="0"/>
              </a:rPr>
              <a:t>Точки сигналов судна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5306" y="1072430"/>
            <a:ext cx="273630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“</a:t>
            </a:r>
            <a:r>
              <a:rPr lang="ru-RU" dirty="0">
                <a:latin typeface="Helvetica" pitchFamily="2" charset="0"/>
              </a:rPr>
              <a:t>Непрерывные</a:t>
            </a:r>
            <a:r>
              <a:rPr lang="en-US" dirty="0">
                <a:latin typeface="Helvetica" pitchFamily="2" charset="0"/>
              </a:rPr>
              <a:t>”</a:t>
            </a:r>
            <a:endParaRPr lang="ru-RU" dirty="0">
              <a:latin typeface="Helvetica" pitchFamily="2" charset="0"/>
            </a:endParaRPr>
          </a:p>
          <a:p>
            <a:r>
              <a:rPr lang="ru-RU" sz="1000" dirty="0">
                <a:latin typeface="Helvetica" pitchFamily="2" charset="0"/>
              </a:rPr>
              <a:t>Спутниковые снимки, профили съемки ГЛБО и батиметрии, вертикальные или горизонтальные гидрологические профили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576" y="2266036"/>
            <a:ext cx="309634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latin typeface="Helvetica" pitchFamily="2" charset="0"/>
              </a:rPr>
              <a:t>Биотические</a:t>
            </a:r>
          </a:p>
          <a:p>
            <a:r>
              <a:rPr lang="ru-RU" sz="1000" dirty="0">
                <a:latin typeface="Helvetica" pitchFamily="2" charset="0"/>
              </a:rPr>
              <a:t>Наблюдения за млекопитающими и птицами,</a:t>
            </a:r>
          </a:p>
          <a:p>
            <a:r>
              <a:rPr lang="ru-RU" sz="1000" dirty="0">
                <a:latin typeface="Helvetica" pitchFamily="2" charset="0"/>
              </a:rPr>
              <a:t>Исследования донных сообществ, планктона, хлорофилл и продуктивность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306" y="2266036"/>
            <a:ext cx="32403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latin typeface="Helvetica" pitchFamily="2" charset="0"/>
              </a:rPr>
              <a:t>Абиотические</a:t>
            </a:r>
          </a:p>
          <a:p>
            <a:r>
              <a:rPr lang="ru-RU" sz="1000" dirty="0">
                <a:latin typeface="Helvetica" pitchFamily="2" charset="0"/>
              </a:rPr>
              <a:t>Гидрологические данные, гидрохимические анализы морских вод, гранулометрический состав, гидрохимические анализы донных отложений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576" y="3533851"/>
            <a:ext cx="31683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latin typeface="Helvetica" pitchFamily="2" charset="0"/>
              </a:rPr>
              <a:t>Относительно статичные</a:t>
            </a:r>
          </a:p>
          <a:p>
            <a:r>
              <a:rPr lang="ru-RU" sz="1000" dirty="0">
                <a:latin typeface="Helvetica" pitchFamily="2" charset="0"/>
              </a:rPr>
              <a:t>Донная фауна, донные осадки, батиметрия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5306" y="3533851"/>
            <a:ext cx="302433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latin typeface="Helvetica" pitchFamily="2" charset="0"/>
              </a:rPr>
              <a:t>Динамичные</a:t>
            </a:r>
          </a:p>
          <a:p>
            <a:r>
              <a:rPr lang="ru-RU" sz="1000" dirty="0">
                <a:latin typeface="Helvetica" pitchFamily="2" charset="0"/>
              </a:rPr>
              <a:t>Планктон, характеристики водной толщи – соленость, температура, концентрации химических элементов, спутниковые снимки</a:t>
            </a:r>
          </a:p>
        </p:txBody>
      </p:sp>
    </p:spTree>
    <p:extLst>
      <p:ext uri="{BB962C8B-B14F-4D97-AF65-F5344CB8AC3E}">
        <p14:creationId xmlns:p14="http://schemas.microsoft.com/office/powerpoint/2010/main" val="1303388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51470"/>
            <a:ext cx="8579296" cy="432048"/>
          </a:xfrm>
        </p:spPr>
        <p:txBody>
          <a:bodyPr>
            <a:normAutofit/>
          </a:bodyPr>
          <a:lstStyle/>
          <a:p>
            <a:r>
              <a:rPr lang="ru-RU" sz="2100" b="1" dirty="0">
                <a:latin typeface="Helvetica" pitchFamily="2" charset="0"/>
              </a:rPr>
              <a:t>Показатели качества морской среды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2139" y="505004"/>
            <a:ext cx="5307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Helvetica" pitchFamily="2" charset="0"/>
              </a:rPr>
              <a:t>Показатели качества для абиотических параметров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361F7A-AADC-2F1E-9E43-94038522AC9C}"/>
              </a:ext>
            </a:extLst>
          </p:cNvPr>
          <p:cNvSpPr txBox="1"/>
          <p:nvPr/>
        </p:nvSpPr>
        <p:spPr>
          <a:xfrm>
            <a:off x="0" y="1058780"/>
            <a:ext cx="6264696" cy="441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330">
              <a:lnSpc>
                <a:spcPct val="107000"/>
              </a:lnSpc>
              <a:spcAft>
                <a:spcPts val="800"/>
              </a:spcAft>
              <a:tabLst>
                <a:tab pos="900430" algn="l"/>
              </a:tabLst>
            </a:pPr>
            <a:r>
              <a:rPr lang="ru-RU" sz="1100" b="1" dirty="0">
                <a:effectLst/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Индекс загрязненности вод (ИЗВ)</a:t>
            </a:r>
            <a:r>
              <a:rPr lang="ru-RU" sz="1100" dirty="0">
                <a:effectLst/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- средняя доля превышения ПДК по определенному числу индивидуальных ингредиентов. </a:t>
            </a:r>
            <a:endParaRPr lang="ru-RU" sz="1100" dirty="0">
              <a:effectLst/>
              <a:latin typeface="Helvetica" pitchFamily="2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9193" y="2118216"/>
            <a:ext cx="58997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100" b="1" dirty="0"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Суммарный показатель химического загрязнения (</a:t>
            </a:r>
            <a:r>
              <a:rPr lang="ru-RU" altLang="ru-RU" sz="1100" b="1" dirty="0" err="1"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lang="ru-RU" altLang="ru-RU" sz="1100" b="1" baseline="-25000" dirty="0" err="1"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ц</a:t>
            </a:r>
            <a:r>
              <a:rPr lang="ru-RU" altLang="ru-RU" sz="1100" b="1" dirty="0"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altLang="ru-RU" sz="1100" dirty="0"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– характеризует степень химического загрязнения грунтов. </a:t>
            </a:r>
            <a:endParaRPr lang="ru-RU" altLang="ru-RU" sz="1100" dirty="0">
              <a:latin typeface="Helvetica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9153" y="3075991"/>
            <a:ext cx="6270848" cy="441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100" b="1" dirty="0">
                <a:latin typeface="Helvetica" pitchFamily="2" charset="0"/>
                <a:cs typeface="Times New Roman" panose="02020603050405020304" pitchFamily="18" charset="0"/>
              </a:rPr>
              <a:t>Индекс загрязняющей нагрузки (</a:t>
            </a:r>
            <a:r>
              <a:rPr lang="en-US" sz="1100" b="1" dirty="0">
                <a:latin typeface="Helvetica" pitchFamily="2" charset="0"/>
                <a:cs typeface="Times New Roman" panose="02020603050405020304" pitchFamily="18" charset="0"/>
              </a:rPr>
              <a:t>P</a:t>
            </a:r>
            <a:r>
              <a:rPr lang="ru-RU" sz="1100" b="1" dirty="0" err="1">
                <a:latin typeface="Helvetica" pitchFamily="2" charset="0"/>
                <a:cs typeface="Times New Roman" panose="02020603050405020304" pitchFamily="18" charset="0"/>
              </a:rPr>
              <a:t>ollution</a:t>
            </a:r>
            <a:r>
              <a:rPr lang="ru-RU" sz="1100" b="1" dirty="0"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latin typeface="Helvetica" pitchFamily="2" charset="0"/>
                <a:cs typeface="Times New Roman" panose="02020603050405020304" pitchFamily="18" charset="0"/>
              </a:rPr>
              <a:t>L</a:t>
            </a:r>
            <a:r>
              <a:rPr lang="ru-RU" sz="1100" b="1" dirty="0" err="1">
                <a:latin typeface="Helvetica" pitchFamily="2" charset="0"/>
                <a:cs typeface="Times New Roman" panose="02020603050405020304" pitchFamily="18" charset="0"/>
              </a:rPr>
              <a:t>oad</a:t>
            </a:r>
            <a:r>
              <a:rPr lang="ru-RU" sz="1100" b="1" dirty="0"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latin typeface="Helvetica" pitchFamily="2" charset="0"/>
                <a:cs typeface="Times New Roman" panose="02020603050405020304" pitchFamily="18" charset="0"/>
              </a:rPr>
              <a:t>I</a:t>
            </a:r>
            <a:r>
              <a:rPr lang="ru-RU" sz="1100" b="1" dirty="0" err="1">
                <a:latin typeface="Helvetica" pitchFamily="2" charset="0"/>
                <a:cs typeface="Times New Roman" panose="02020603050405020304" pitchFamily="18" charset="0"/>
              </a:rPr>
              <a:t>ndex</a:t>
            </a:r>
            <a:r>
              <a:rPr lang="en-US" sz="1100" b="1" dirty="0">
                <a:latin typeface="Helvetica" pitchFamily="2" charset="0"/>
                <a:cs typeface="Times New Roman" panose="02020603050405020304" pitchFamily="18" charset="0"/>
              </a:rPr>
              <a:t>, PLI</a:t>
            </a:r>
            <a:r>
              <a:rPr lang="ru-RU" sz="1100" b="1" dirty="0">
                <a:latin typeface="Helvetica" pitchFamily="2" charset="0"/>
                <a:cs typeface="Times New Roman" panose="02020603050405020304" pitchFamily="18" charset="0"/>
              </a:rPr>
              <a:t>)</a:t>
            </a:r>
            <a:r>
              <a:rPr lang="ru-RU" sz="1100" dirty="0">
                <a:latin typeface="Helvetica" pitchFamily="2" charset="0"/>
                <a:cs typeface="Times New Roman" panose="02020603050405020304" pitchFamily="18" charset="0"/>
              </a:rPr>
              <a:t>, применяют как для вод, так и для осадков.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07041" y="3953947"/>
            <a:ext cx="59379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Индекс загрязнения атмосферы (ИЗА)</a:t>
            </a:r>
            <a:r>
              <a:rPr lang="en-US" sz="1100" b="1" dirty="0">
                <a:latin typeface="Helvetica" pitchFamily="2" charset="0"/>
              </a:rPr>
              <a:t> </a:t>
            </a:r>
            <a:r>
              <a:rPr lang="ru-RU" altLang="ru-RU" sz="1100" dirty="0"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– характеризует степень загрязнения воздуха</a:t>
            </a:r>
            <a:r>
              <a:rPr lang="en-US" altLang="ru-RU" sz="1100" dirty="0"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100" dirty="0">
              <a:latin typeface="Helvetica" pitchFamily="2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536" y="3867894"/>
            <a:ext cx="1799359" cy="602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848" y="2027445"/>
            <a:ext cx="2520000" cy="612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848" y="3066253"/>
            <a:ext cx="2160000" cy="39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583" y="655001"/>
            <a:ext cx="1800000" cy="880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632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51470"/>
            <a:ext cx="8579296" cy="432048"/>
          </a:xfrm>
        </p:spPr>
        <p:txBody>
          <a:bodyPr>
            <a:normAutofit/>
          </a:bodyPr>
          <a:lstStyle/>
          <a:p>
            <a:r>
              <a:rPr lang="ru-RU" sz="2100" b="1" dirty="0">
                <a:latin typeface="Helvetica" pitchFamily="2" charset="0"/>
              </a:rPr>
              <a:t>Показатели качества морской среды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07504" y="411510"/>
            <a:ext cx="249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Индексы разнообразия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612523"/>
              </p:ext>
            </p:extLst>
          </p:nvPr>
        </p:nvGraphicFramePr>
        <p:xfrm>
          <a:off x="7092280" y="610987"/>
          <a:ext cx="1957748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32">
                <a:tc>
                  <a:txBody>
                    <a:bodyPr/>
                    <a:lstStyle/>
                    <a:p>
                      <a:pPr algn="ctr" fontAlgn="t"/>
                      <a:r>
                        <a:rPr lang="ru-RU" sz="800" b="1" u="none" strike="noStrike" dirty="0">
                          <a:effectLst/>
                          <a:latin typeface="Helvetica" pitchFamily="2" charset="0"/>
                        </a:rPr>
                        <a:t>Число видов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800" b="1" u="none" strike="noStrike" dirty="0">
                          <a:effectLst/>
                          <a:latin typeface="Helvetica" pitchFamily="2" charset="0"/>
                        </a:rPr>
                        <a:t>Индекс Шеннона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0,00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4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1,26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1,87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50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3,38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100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4,18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200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4,92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300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5,29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500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5,79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1000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6,48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2000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7,17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3000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7,58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>
                          <a:effectLst/>
                          <a:latin typeface="Helvetica" pitchFamily="2" charset="0"/>
                        </a:rPr>
                        <a:t>5000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8,11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348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10000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u="none" strike="noStrike" dirty="0">
                          <a:effectLst/>
                          <a:latin typeface="Helvetica" pitchFamily="2" charset="0"/>
                        </a:rPr>
                        <a:t>8,79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45547" y="964225"/>
            <a:ext cx="43544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Индекс Шеннона</a:t>
            </a:r>
            <a:r>
              <a:rPr lang="ru-RU" sz="1000" dirty="0">
                <a:latin typeface="Helvetica" pitchFamily="2" charset="0"/>
              </a:rPr>
              <a:t> p</a:t>
            </a:r>
            <a:r>
              <a:rPr lang="en-US" sz="1000" baseline="-25000" dirty="0">
                <a:latin typeface="Helvetica" pitchFamily="2" charset="0"/>
              </a:rPr>
              <a:t>i</a:t>
            </a:r>
            <a:r>
              <a:rPr lang="ru-RU" sz="1000" dirty="0">
                <a:latin typeface="Helvetica" pitchFamily="2" charset="0"/>
              </a:rPr>
              <a:t> – отношение численности вида i к общему числу особей выборки N.</a:t>
            </a:r>
            <a:endParaRPr lang="en-US" sz="1000" dirty="0">
              <a:latin typeface="Helvetica" pitchFamily="2" charset="0"/>
            </a:endParaRPr>
          </a:p>
          <a:p>
            <a:r>
              <a:rPr lang="ru-RU" sz="1000" dirty="0">
                <a:latin typeface="Helvetica" pitchFamily="2" charset="0"/>
              </a:rPr>
              <a:t>Индекс чувствителен как к числу видов, так и к неравномерности их количественной представленности в пробе (сообществе). </a:t>
            </a:r>
            <a:endParaRPr lang="ru-RU" sz="1000" dirty="0">
              <a:highlight>
                <a:srgbClr val="FFFF00"/>
              </a:highlight>
              <a:latin typeface="Helvetica" pitchFamily="2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360" y="1099749"/>
            <a:ext cx="1367552" cy="57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 descr="C:\Users\vladk\OneDrive\Рабочий стол\lection\data (1)\Support_part_1_ind\sh_by_siz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773" y="2510626"/>
            <a:ext cx="4216723" cy="165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914" y="2195934"/>
            <a:ext cx="33917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Индекс выравненности </a:t>
            </a:r>
            <a:r>
              <a:rPr lang="ru-RU" sz="1000" b="1" dirty="0" err="1">
                <a:latin typeface="Helvetica" pitchFamily="2" charset="0"/>
              </a:rPr>
              <a:t>Пиелу</a:t>
            </a:r>
            <a:r>
              <a:rPr lang="en-US" sz="1000" b="1" dirty="0">
                <a:latin typeface="Helvetica" pitchFamily="2" charset="0"/>
              </a:rPr>
              <a:t> </a:t>
            </a:r>
            <a:r>
              <a:rPr lang="ru-RU" sz="1000" dirty="0">
                <a:latin typeface="Helvetica" pitchFamily="2" charset="0"/>
              </a:rPr>
              <a:t>где H` - индекс Шеннона, S – число видов в сообществе. Зависит от равномерности распределения численностей видов – меняется в диапазоне от 0 (абсолютное доминирование единственного вида до 1 (все виды характеризуются равномерным числом особей)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913" y="2419923"/>
            <a:ext cx="934101" cy="567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70674" y="3735421"/>
            <a:ext cx="37532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latin typeface="Helvetica" pitchFamily="2" charset="0"/>
                <a:cs typeface="Times New Roman" panose="02020603050405020304" pitchFamily="18" charset="0"/>
              </a:rPr>
              <a:t>Индекс трофического состояния (</a:t>
            </a:r>
            <a:r>
              <a:rPr lang="ru-RU" sz="1000" b="1" dirty="0" err="1">
                <a:latin typeface="Helvetica" pitchFamily="2" charset="0"/>
                <a:cs typeface="Times New Roman" panose="02020603050405020304" pitchFamily="18" charset="0"/>
              </a:rPr>
              <a:t>Trophic</a:t>
            </a:r>
            <a:r>
              <a:rPr lang="ru-RU" sz="1000" b="1" dirty="0"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ru-RU" sz="1000" b="1" dirty="0" err="1">
                <a:latin typeface="Helvetica" pitchFamily="2" charset="0"/>
                <a:cs typeface="Times New Roman" panose="02020603050405020304" pitchFamily="18" charset="0"/>
              </a:rPr>
              <a:t>State</a:t>
            </a:r>
            <a:r>
              <a:rPr lang="ru-RU" sz="1000" b="1" dirty="0"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ru-RU" sz="1000" b="1" dirty="0" err="1">
                <a:latin typeface="Helvetica" pitchFamily="2" charset="0"/>
                <a:cs typeface="Times New Roman" panose="02020603050405020304" pitchFamily="18" charset="0"/>
              </a:rPr>
              <a:t>Index</a:t>
            </a:r>
            <a:r>
              <a:rPr lang="ru-RU" sz="1000" b="1" dirty="0">
                <a:latin typeface="Helvetica" pitchFamily="2" charset="0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latin typeface="Helvetica" pitchFamily="2" charset="0"/>
                <a:cs typeface="Times New Roman" panose="02020603050405020304" pitchFamily="18" charset="0"/>
              </a:rPr>
              <a:t>TSI</a:t>
            </a:r>
            <a:r>
              <a:rPr lang="ru-RU" sz="1000" b="1" dirty="0">
                <a:latin typeface="Helvetica" pitchFamily="2" charset="0"/>
                <a:cs typeface="Times New Roman" panose="02020603050405020304" pitchFamily="18" charset="0"/>
              </a:rPr>
              <a:t>) </a:t>
            </a:r>
            <a:r>
              <a:rPr lang="ru-RU" sz="1000" dirty="0">
                <a:latin typeface="Helvetica" pitchFamily="2" charset="0"/>
                <a:cs typeface="Times New Roman" panose="02020603050405020304" pitchFamily="18" charset="0"/>
              </a:rPr>
              <a:t>–  предназначен для оценки водных объектов на основе уровня биологической продуктивности (</a:t>
            </a:r>
            <a:r>
              <a:rPr lang="ru-RU" sz="1000" dirty="0" err="1">
                <a:latin typeface="Helvetica" pitchFamily="2" charset="0"/>
                <a:cs typeface="Times New Roman" panose="02020603050405020304" pitchFamily="18" charset="0"/>
              </a:rPr>
              <a:t>олиготрофный</a:t>
            </a:r>
            <a:r>
              <a:rPr lang="ru-RU" sz="1000" dirty="0">
                <a:latin typeface="Helvetica" pitchFamily="2" charset="0"/>
                <a:cs typeface="Times New Roman" panose="02020603050405020304" pitchFamily="18" charset="0"/>
              </a:rPr>
              <a:t>, </a:t>
            </a:r>
            <a:r>
              <a:rPr lang="ru-RU" sz="1000" dirty="0" err="1">
                <a:latin typeface="Helvetica" pitchFamily="2" charset="0"/>
                <a:cs typeface="Times New Roman" panose="02020603050405020304" pitchFamily="18" charset="0"/>
              </a:rPr>
              <a:t>мезотрофный</a:t>
            </a:r>
            <a:r>
              <a:rPr lang="ru-RU" sz="1000" dirty="0">
                <a:latin typeface="Helvetica" pitchFamily="2" charset="0"/>
                <a:cs typeface="Times New Roman" panose="02020603050405020304" pitchFamily="18" charset="0"/>
              </a:rPr>
              <a:t>, </a:t>
            </a:r>
            <a:r>
              <a:rPr lang="ru-RU" sz="1000" dirty="0" err="1">
                <a:latin typeface="Helvetica" pitchFamily="2" charset="0"/>
                <a:cs typeface="Times New Roman" panose="02020603050405020304" pitchFamily="18" charset="0"/>
              </a:rPr>
              <a:t>эвтрофный</a:t>
            </a:r>
            <a:r>
              <a:rPr lang="ru-RU" sz="1000" dirty="0">
                <a:latin typeface="Helvetica" pitchFamily="2" charset="0"/>
                <a:cs typeface="Times New Roman" panose="02020603050405020304" pitchFamily="18" charset="0"/>
              </a:rPr>
              <a:t>, </a:t>
            </a:r>
            <a:r>
              <a:rPr lang="ru-RU" sz="1000" dirty="0" err="1">
                <a:latin typeface="Helvetica" pitchFamily="2" charset="0"/>
                <a:cs typeface="Times New Roman" panose="02020603050405020304" pitchFamily="18" charset="0"/>
              </a:rPr>
              <a:t>гиперэвтрофный</a:t>
            </a:r>
            <a:r>
              <a:rPr lang="ru-RU" sz="1000" dirty="0">
                <a:latin typeface="Helvetica" pitchFamily="2" charset="0"/>
                <a:cs typeface="Times New Roman" panose="02020603050405020304" pitchFamily="18" charset="0"/>
              </a:rPr>
              <a:t>)</a:t>
            </a:r>
            <a:endParaRPr lang="ru-RU" sz="1000" dirty="0">
              <a:highlight>
                <a:srgbClr val="FFFF00"/>
              </a:highlight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4654322"/>
            <a:ext cx="4903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Helvetica" pitchFamily="2" charset="0"/>
              </a:rPr>
              <a:t>Другие индексы:</a:t>
            </a:r>
            <a:r>
              <a:rPr lang="en-US" sz="1000" dirty="0">
                <a:latin typeface="Helvetica" pitchFamily="2" charset="0"/>
              </a:rPr>
              <a:t> </a:t>
            </a:r>
            <a:r>
              <a:rPr lang="ru-RU" sz="1000" dirty="0">
                <a:latin typeface="Helvetica" pitchFamily="2" charset="0"/>
              </a:rPr>
              <a:t>Симпсона, </a:t>
            </a:r>
            <a:r>
              <a:rPr lang="ru-RU" sz="1000" dirty="0" err="1">
                <a:latin typeface="Helvetica" pitchFamily="2" charset="0"/>
              </a:rPr>
              <a:t>Маргалефа</a:t>
            </a:r>
            <a:r>
              <a:rPr lang="ru-RU" sz="1000" dirty="0">
                <a:latin typeface="Helvetica" pitchFamily="2" charset="0"/>
              </a:rPr>
              <a:t>, </a:t>
            </a:r>
            <a:r>
              <a:rPr lang="ru-RU" sz="1000" dirty="0" err="1">
                <a:latin typeface="Helvetica" pitchFamily="2" charset="0"/>
              </a:rPr>
              <a:t>Бергера</a:t>
            </a:r>
            <a:r>
              <a:rPr lang="ru-RU" sz="1000" dirty="0">
                <a:latin typeface="Helvetica" pitchFamily="2" charset="0"/>
              </a:rPr>
              <a:t> Паркера, </a:t>
            </a:r>
            <a:r>
              <a:rPr lang="ru-RU" sz="1000" dirty="0" err="1">
                <a:latin typeface="Helvetica" pitchFamily="2" charset="0"/>
              </a:rPr>
              <a:t>Менхиника</a:t>
            </a:r>
            <a:r>
              <a:rPr lang="ru-RU" sz="1000" dirty="0">
                <a:latin typeface="Helvetica" pitchFamily="2" charset="0"/>
              </a:rPr>
              <a:t>, </a:t>
            </a:r>
            <a:r>
              <a:rPr lang="en-US" sz="1000" dirty="0">
                <a:latin typeface="Helvetica" pitchFamily="2" charset="0"/>
              </a:rPr>
              <a:t>ES100</a:t>
            </a:r>
            <a:endParaRPr lang="ru-RU" sz="1000" dirty="0">
              <a:latin typeface="Helvetica" pitchFamily="2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488" y="4145825"/>
            <a:ext cx="2160000" cy="264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58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0"/>
            <a:ext cx="8229600" cy="349548"/>
          </a:xfrm>
        </p:spPr>
        <p:txBody>
          <a:bodyPr>
            <a:normAutofit fontScale="90000"/>
          </a:bodyPr>
          <a:lstStyle/>
          <a:p>
            <a:r>
              <a:rPr lang="ru-RU" sz="1800" b="1" dirty="0">
                <a:latin typeface="Helvetica" pitchFamily="2" charset="0"/>
              </a:rPr>
              <a:t>Стандартные подходы к аналитике гидробиологических данных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334B6-5CEC-C7D7-CFBD-2B06B9C21A81}"/>
              </a:ext>
            </a:extLst>
          </p:cNvPr>
          <p:cNvSpPr txBox="1"/>
          <p:nvPr/>
        </p:nvSpPr>
        <p:spPr>
          <a:xfrm>
            <a:off x="365960" y="781100"/>
            <a:ext cx="4077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Отбор проб ведут на точках распределенных в море определенным образом – регулярно или основываясь на каких-либо факторах</a:t>
            </a:r>
          </a:p>
          <a:p>
            <a:endParaRPr lang="ru-RU" sz="1200" dirty="0">
              <a:latin typeface="Helvetica" pitchFamily="2" charset="0"/>
            </a:endParaRPr>
          </a:p>
          <a:p>
            <a:r>
              <a:rPr lang="ru-RU" sz="1200" dirty="0">
                <a:latin typeface="Helvetica" pitchFamily="2" charset="0"/>
              </a:rPr>
              <a:t>Некоторые задачи могут предполагать изучение зависимости биомассы или общего биоразнообразия от факторов окружающей среды, их динамику во времени</a:t>
            </a:r>
          </a:p>
          <a:p>
            <a:endParaRPr lang="ru-RU" sz="1200" dirty="0">
              <a:latin typeface="Helvetica" pitchFamily="2" charset="0"/>
            </a:endParaRPr>
          </a:p>
          <a:p>
            <a:r>
              <a:rPr lang="ru-RU" sz="1200" dirty="0">
                <a:latin typeface="Helvetica" pitchFamily="2" charset="0"/>
              </a:rPr>
              <a:t>Чаще всего предполагается изучение структуры сообществ, их расположения в пространстве и динамики во времени, сходство составляющих сообществ точек на основании живущих там организмов. Изучается зависимость расположения и динамики фаунистических сообществ от факторов окружающей среды и антропогенных факторов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09EC84-997D-56D5-4550-532DDB3EB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764698"/>
            <a:ext cx="3240000" cy="406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3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:\Users\vladk\OneDrive\Рабочий стол\lection\data (1)\Support_part_2\7r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995" y="1276006"/>
            <a:ext cx="2892341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644" y="1305843"/>
            <a:ext cx="2115435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07504" y="422543"/>
            <a:ext cx="2672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Подходы к выделению сообществ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55496-061B-CD1D-EC9D-3F096DB2DAB0}"/>
              </a:ext>
            </a:extLst>
          </p:cNvPr>
          <p:cNvSpPr txBox="1"/>
          <p:nvPr/>
        </p:nvSpPr>
        <p:spPr>
          <a:xfrm>
            <a:off x="80564" y="771550"/>
            <a:ext cx="37532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Helvetica" pitchFamily="2" charset="0"/>
              </a:rPr>
              <a:t>Анализ можно выполнять в специальных программах (</a:t>
            </a:r>
            <a:r>
              <a:rPr lang="ru-RU" sz="1100" dirty="0" err="1">
                <a:latin typeface="Helvetica" pitchFamily="2" charset="0"/>
              </a:rPr>
              <a:t>Primer</a:t>
            </a:r>
            <a:r>
              <a:rPr lang="ru-RU" sz="1100" dirty="0">
                <a:latin typeface="Helvetica" pitchFamily="2" charset="0"/>
              </a:rPr>
              <a:t>, </a:t>
            </a:r>
            <a:r>
              <a:rPr lang="ru-RU" sz="1100" dirty="0" err="1">
                <a:latin typeface="Helvetica" pitchFamily="2" charset="0"/>
              </a:rPr>
              <a:t>Past</a:t>
            </a:r>
            <a:r>
              <a:rPr lang="en-US" sz="1100" dirty="0">
                <a:latin typeface="Helvetica" pitchFamily="2" charset="0"/>
              </a:rPr>
              <a:t>, CANOCO</a:t>
            </a:r>
            <a:r>
              <a:rPr lang="ru-RU" sz="1100" dirty="0">
                <a:latin typeface="Helvetica" pitchFamily="2" charset="0"/>
              </a:rPr>
              <a:t>) или используя R или Python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0"/>
            <a:ext cx="8229600" cy="349548"/>
          </a:xfrm>
        </p:spPr>
        <p:txBody>
          <a:bodyPr>
            <a:normAutofit fontScale="90000"/>
          </a:bodyPr>
          <a:lstStyle/>
          <a:p>
            <a:r>
              <a:rPr lang="ru-RU" sz="1800" b="1" dirty="0">
                <a:latin typeface="Helvetica" pitchFamily="2" charset="0"/>
              </a:rPr>
              <a:t>Стандартные подходы к аналитике гидробиологических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6327" y="1657172"/>
            <a:ext cx="22534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Clarke, K.R., Warwick, R.M., 2001</a:t>
            </a:r>
          </a:p>
          <a:p>
            <a:r>
              <a:rPr lang="en-US" sz="800" dirty="0">
                <a:latin typeface="Helvetica" pitchFamily="2" charset="0"/>
              </a:rPr>
              <a:t>Change in marine communities: an approach to statistical analysis and interpretation, 2nd edition. PRIMER-E: Plymouth</a:t>
            </a:r>
            <a:endParaRPr lang="ru-RU" sz="800" dirty="0">
              <a:latin typeface="Helvetica" pitchFamily="2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5" y="3267317"/>
            <a:ext cx="3829950" cy="1736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0564" y="1384552"/>
            <a:ext cx="15872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“</a:t>
            </a:r>
            <a:r>
              <a:rPr lang="ru-RU" sz="1000" dirty="0">
                <a:latin typeface="Helvetica" pitchFamily="2" charset="0"/>
              </a:rPr>
              <a:t>Отраслевой стандарт</a:t>
            </a:r>
            <a:r>
              <a:rPr lang="en-US" sz="1000" dirty="0">
                <a:latin typeface="Helvetica" pitchFamily="2" charset="0"/>
              </a:rPr>
              <a:t>”</a:t>
            </a:r>
            <a:endParaRPr lang="ru-RU" sz="1000" dirty="0">
              <a:latin typeface="Helvetica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27984" y="456843"/>
            <a:ext cx="460851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Helvetica" pitchFamily="2" charset="0"/>
              </a:rPr>
              <a:t>Машинное обучение</a:t>
            </a:r>
            <a:r>
              <a:rPr lang="ru-RU" sz="1100" baseline="30000" dirty="0">
                <a:latin typeface="Helvetica" pitchFamily="2" charset="0"/>
              </a:rPr>
              <a:t>*</a:t>
            </a:r>
            <a:r>
              <a:rPr lang="ru-RU" sz="1100" dirty="0">
                <a:latin typeface="Helvetica" pitchFamily="2" charset="0"/>
              </a:rPr>
              <a:t> - основная область искусственного интеллекта, использующая алгоритмы для выявления закономерностей в данных и их применения для прогнозирования. Подразделяется на методы классификации и регрессии, а также на обучение с учителем и без учителя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6079" y="4887969"/>
            <a:ext cx="43204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Helvetica" pitchFamily="2" charset="0"/>
              </a:rPr>
              <a:t>* в контексте наших задач</a:t>
            </a:r>
          </a:p>
        </p:txBody>
      </p:sp>
      <p:pic>
        <p:nvPicPr>
          <p:cNvPr id="6149" name="Picture 5" descr="C:\Users\vladk\OneDrive\Рабочий стол\lection\data (1)\Support_part_2\vas3k_ml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365187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252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65986" y="382961"/>
            <a:ext cx="2672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Подходы к выделению сообществ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55496-061B-CD1D-EC9D-3F096DB2DAB0}"/>
              </a:ext>
            </a:extLst>
          </p:cNvPr>
          <p:cNvSpPr txBox="1"/>
          <p:nvPr/>
        </p:nvSpPr>
        <p:spPr>
          <a:xfrm>
            <a:off x="170717" y="771550"/>
            <a:ext cx="515792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Helvetica" pitchFamily="2" charset="0"/>
              </a:rPr>
              <a:t>В начале ХХ века сообщества выделяли по наиболее заметным по биомассе или численности видам – «руководящим видам», сейчас понятие таких видов или доминирующих видов остается, но применяются более детальные подходы.</a:t>
            </a:r>
          </a:p>
          <a:p>
            <a:endParaRPr lang="ru-RU" sz="1100" dirty="0">
              <a:latin typeface="Helvetica" pitchFamily="2" charset="0"/>
            </a:endParaRPr>
          </a:p>
          <a:p>
            <a:r>
              <a:rPr lang="ru-RU" sz="1100" dirty="0">
                <a:latin typeface="Helvetica" pitchFamily="2" charset="0"/>
              </a:rPr>
              <a:t>Учет только доминирующих видов не позволяет полностью выявить структуру сообщества</a:t>
            </a:r>
            <a:r>
              <a:rPr lang="en-US" sz="1100" dirty="0">
                <a:latin typeface="Helvetica" pitchFamily="2" charset="0"/>
              </a:rPr>
              <a:t>, </a:t>
            </a:r>
            <a:r>
              <a:rPr lang="ru-RU" sz="1100" dirty="0">
                <a:latin typeface="Helvetica" pitchFamily="2" charset="0"/>
              </a:rPr>
              <a:t>например в различных районах могут быть сходные доминанты, но достаточно сильно отличаться другие виды</a:t>
            </a:r>
          </a:p>
          <a:p>
            <a:endParaRPr lang="ru-RU" sz="1100" dirty="0">
              <a:latin typeface="Helvetica" pitchFamily="2" charset="0"/>
            </a:endParaRPr>
          </a:p>
          <a:p>
            <a:r>
              <a:rPr lang="ru-RU" sz="1100" dirty="0">
                <a:latin typeface="Helvetica" pitchFamily="2" charset="0"/>
              </a:rPr>
              <a:t>Учитывая только доминантов сложно сравнивать фаунистическое сходство</a:t>
            </a:r>
          </a:p>
          <a:p>
            <a:endParaRPr lang="ru-RU" sz="1100" dirty="0">
              <a:latin typeface="Helvetica" pitchFamily="2" charset="0"/>
            </a:endParaRPr>
          </a:p>
          <a:p>
            <a:r>
              <a:rPr lang="ru-RU" sz="1100" dirty="0">
                <a:latin typeface="Helvetica" pitchFamily="2" charset="0"/>
              </a:rPr>
              <a:t>Желательно учесть роль каждого вида, но их много – нельзя визуализировать напрямую</a:t>
            </a:r>
          </a:p>
        </p:txBody>
      </p:sp>
      <p:pic>
        <p:nvPicPr>
          <p:cNvPr id="17" name="Рисунок 16" descr="Изображение выглядит как текст, снимок экрана, График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6E3B282A-D395-2E1E-4A90-9ACBF10EF0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000" y="312780"/>
            <a:ext cx="3960000" cy="211495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снимок экрана, диаграмма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AE8A6715-FC8E-3E59-A65E-EE51FAECC5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2" t="6190" b="13619"/>
          <a:stretch/>
        </p:blipFill>
        <p:spPr>
          <a:xfrm>
            <a:off x="5275339" y="2387113"/>
            <a:ext cx="3744416" cy="227286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0"/>
            <a:ext cx="8229600" cy="349548"/>
          </a:xfrm>
        </p:spPr>
        <p:txBody>
          <a:bodyPr>
            <a:normAutofit fontScale="90000"/>
          </a:bodyPr>
          <a:lstStyle/>
          <a:p>
            <a:r>
              <a:rPr lang="ru-RU" sz="1800" b="1" dirty="0">
                <a:latin typeface="Helvetica" pitchFamily="2" charset="0"/>
              </a:rPr>
              <a:t>Стандартные подходы к аналитике гидробиологических данных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447587"/>
              </p:ext>
            </p:extLst>
          </p:nvPr>
        </p:nvGraphicFramePr>
        <p:xfrm>
          <a:off x="170717" y="3291830"/>
          <a:ext cx="5118788" cy="1604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2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906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 dirty="0">
                          <a:effectLst/>
                        </a:rPr>
                        <a:t> 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4999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5000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5001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5002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5003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4993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47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>
                          <a:effectLst/>
                        </a:rPr>
                        <a:t>48</a:t>
                      </a:r>
                      <a:endParaRPr lang="ru-RU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>
                          <a:effectLst/>
                        </a:rPr>
                        <a:t>50</a:t>
                      </a:r>
                      <a:endParaRPr lang="ru-RU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>
                          <a:effectLst/>
                        </a:rPr>
                        <a:t>51</a:t>
                      </a:r>
                      <a:endParaRPr lang="ru-RU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>
                          <a:effectLst/>
                        </a:rPr>
                        <a:t>53</a:t>
                      </a:r>
                      <a:endParaRPr lang="ru-RU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>
                          <a:effectLst/>
                        </a:rPr>
                        <a:t>54</a:t>
                      </a:r>
                      <a:endParaRPr lang="ru-RU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55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57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b="1" u="none" strike="noStrike" dirty="0">
                          <a:effectLst/>
                        </a:rPr>
                        <a:t>58</a:t>
                      </a:r>
                      <a:endParaRPr lang="ru-RU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 dirty="0" err="1">
                          <a:effectLst/>
                        </a:rPr>
                        <a:t>Tealia</a:t>
                      </a:r>
                      <a:r>
                        <a:rPr lang="en-US" sz="400" b="1" u="none" strike="noStrike" dirty="0">
                          <a:effectLst/>
                        </a:rPr>
                        <a:t> </a:t>
                      </a:r>
                      <a:r>
                        <a:rPr lang="en-US" sz="400" b="1" u="none" strike="noStrike" dirty="0" err="1">
                          <a:effectLst/>
                        </a:rPr>
                        <a:t>felina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4,59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3,94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18,71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 dirty="0" err="1">
                          <a:effectLst/>
                        </a:rPr>
                        <a:t>Edwardsia</a:t>
                      </a:r>
                      <a:r>
                        <a:rPr lang="en-US" sz="400" b="1" u="none" strike="noStrike" dirty="0">
                          <a:effectLst/>
                        </a:rPr>
                        <a:t> sp.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Paraedwardsia arenaria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Cerianthus lloydi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 dirty="0" err="1">
                          <a:effectLst/>
                        </a:rPr>
                        <a:t>Alcionacea</a:t>
                      </a:r>
                      <a:r>
                        <a:rPr lang="en-US" sz="400" b="1" u="none" strike="noStrike" dirty="0">
                          <a:effectLst/>
                        </a:rPr>
                        <a:t> </a:t>
                      </a:r>
                      <a:r>
                        <a:rPr lang="en-US" sz="400" b="1" u="none" strike="noStrike" dirty="0" err="1">
                          <a:effectLst/>
                        </a:rPr>
                        <a:t>sp.A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0,66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Alcionacea sp.B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0,15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Actinia sp.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0,03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Nemertini gen.sp.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0,02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0,29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0,19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0,18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0,01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0,01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0,07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Amage auricula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0,04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Ampharete acutifrons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0,24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0,21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Ampharete borealis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0,04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0,06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Ampharete finmarchica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0,02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 dirty="0" err="1">
                          <a:effectLst/>
                        </a:rPr>
                        <a:t>Ampharete</a:t>
                      </a:r>
                      <a:r>
                        <a:rPr lang="en-US" sz="400" b="1" u="none" strike="noStrike" dirty="0">
                          <a:effectLst/>
                        </a:rPr>
                        <a:t> gr. </a:t>
                      </a:r>
                      <a:r>
                        <a:rPr lang="en-US" sz="400" b="1" u="none" strike="noStrike" dirty="0" err="1">
                          <a:effectLst/>
                        </a:rPr>
                        <a:t>lindstroemi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Ampharete vega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27,88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0,01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14,08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0,24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0,06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Amphicteis nionae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5,72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 dirty="0" err="1">
                          <a:effectLst/>
                        </a:rPr>
                        <a:t>Anobotrus</a:t>
                      </a:r>
                      <a:r>
                        <a:rPr lang="en-US" sz="400" b="1" u="none" strike="noStrike" dirty="0">
                          <a:effectLst/>
                        </a:rPr>
                        <a:t> </a:t>
                      </a:r>
                      <a:r>
                        <a:rPr lang="en-US" sz="400" b="1" u="none" strike="noStrike" dirty="0" err="1">
                          <a:effectLst/>
                        </a:rPr>
                        <a:t>gracilis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0,36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Apistobranchus tullbergi</a:t>
                      </a:r>
                      <a:endParaRPr lang="en-US" sz="400" b="1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>
                          <a:effectLst/>
                        </a:rPr>
                        <a:t>Aricidea nolani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0,01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0,05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0,02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0,04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0,20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 dirty="0" err="1">
                          <a:effectLst/>
                        </a:rPr>
                        <a:t>Artacama</a:t>
                      </a:r>
                      <a:r>
                        <a:rPr lang="en-US" sz="400" b="1" u="none" strike="noStrike" dirty="0">
                          <a:effectLst/>
                        </a:rPr>
                        <a:t> </a:t>
                      </a:r>
                      <a:r>
                        <a:rPr lang="en-US" sz="400" b="1" u="none" strike="noStrike" dirty="0" err="1">
                          <a:effectLst/>
                        </a:rPr>
                        <a:t>proboscidea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7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u="none" strike="noStrike" dirty="0" err="1">
                          <a:effectLst/>
                        </a:rPr>
                        <a:t>Bispira</a:t>
                      </a:r>
                      <a:r>
                        <a:rPr lang="en-US" sz="400" b="1" u="none" strike="noStrike" dirty="0">
                          <a:effectLst/>
                        </a:rPr>
                        <a:t> sp.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>
                          <a:effectLst/>
                        </a:rPr>
                        <a:t>0,00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400" u="none" strike="noStrike" dirty="0">
                          <a:effectLst/>
                        </a:rPr>
                        <a:t>0,00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923" marR="5923" marT="5923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43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65986" y="382961"/>
            <a:ext cx="1911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Снижение размерности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55496-061B-CD1D-EC9D-3F096DB2DAB0}"/>
              </a:ext>
            </a:extLst>
          </p:cNvPr>
          <p:cNvSpPr txBox="1"/>
          <p:nvPr/>
        </p:nvSpPr>
        <p:spPr>
          <a:xfrm>
            <a:off x="170717" y="771550"/>
            <a:ext cx="353718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Анализ главных компонент (</a:t>
            </a:r>
            <a:r>
              <a:rPr lang="en-US" sz="1100" dirty="0"/>
              <a:t>PCA), </a:t>
            </a:r>
            <a:r>
              <a:rPr lang="ru-RU" sz="1100" dirty="0"/>
              <a:t>применяется с 1901 г. для снижения размерности данных. </a:t>
            </a:r>
          </a:p>
          <a:p>
            <a:r>
              <a:rPr lang="ru-RU" sz="1100" dirty="0"/>
              <a:t>Назначения могут быть разные – визуализация, дополнительный источник информации из данных</a:t>
            </a:r>
            <a:r>
              <a:rPr lang="en-US" sz="1100" dirty="0"/>
              <a:t>.</a:t>
            </a:r>
            <a:endParaRPr lang="ru-RU" sz="1100" dirty="0"/>
          </a:p>
          <a:p>
            <a:r>
              <a:rPr lang="en-US" sz="1100" dirty="0"/>
              <a:t>C</a:t>
            </a:r>
            <a:r>
              <a:rPr lang="ru-RU" sz="1100" dirty="0"/>
              <a:t>читается на базе матрицы ковариации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0"/>
            <a:ext cx="8229600" cy="349548"/>
          </a:xfrm>
        </p:spPr>
        <p:txBody>
          <a:bodyPr>
            <a:normAutofit fontScale="90000"/>
          </a:bodyPr>
          <a:lstStyle/>
          <a:p>
            <a:r>
              <a:rPr lang="ru-RU" sz="1800" b="1" dirty="0">
                <a:latin typeface="Helvetica" pitchFamily="2" charset="0"/>
              </a:rPr>
              <a:t>Стандартные подходы к аналитике гидробиологических данных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936530"/>
              </p:ext>
            </p:extLst>
          </p:nvPr>
        </p:nvGraphicFramePr>
        <p:xfrm>
          <a:off x="107504" y="2877117"/>
          <a:ext cx="4327236" cy="1728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3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11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9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66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9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284"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Продукт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Белок (%)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Жир (%)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Углеводы (%)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Вода (%)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Калорийность (ккал/100г)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Консистенция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Сахар (%)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Этанол (%)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Кислотность (</a:t>
                      </a:r>
                      <a:r>
                        <a:rPr lang="en-US" sz="600" b="1" u="none" strike="noStrike" dirty="0">
                          <a:effectLst/>
                          <a:latin typeface="Helvetica" pitchFamily="2" charset="0"/>
                        </a:rPr>
                        <a:t>pH)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Соленость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Цвет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Творог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4.5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77.5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4.6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0.5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1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Сметана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60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210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4.35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Мацони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87.5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65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6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4.4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Ряженка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5.25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85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92.5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3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5.25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Варенец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3.15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6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5.25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85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102.5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5.25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Йогурт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82.5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80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5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792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Греческий йогурт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9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65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0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Кефир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87.5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6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4.3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Кумыс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2.25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90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60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7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4.15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Сыр Бри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29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4.65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1.5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Сыр Рокфор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21.5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37.5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375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4.7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4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374"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Сыр Чеддер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24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36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5.05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>
                          <a:effectLst/>
                        </a:rPr>
                        <a:t>1.5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600" u="none" strike="noStrike" dirty="0">
                          <a:effectLst/>
                        </a:rPr>
                        <a:t>5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14" marR="4914" marT="4914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026" name="Picture 2" descr="C:\Users\vladk\OneDrive\Рабочий стол\lection\data (1)\Support_part_2\02_pca_milk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740" y="794992"/>
            <a:ext cx="4680000" cy="343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65986" y="2571749"/>
            <a:ext cx="149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Исходные данные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4499992" y="552046"/>
            <a:ext cx="1330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PCA</a:t>
            </a:r>
            <a:r>
              <a:rPr lang="ru-RU" sz="1200" dirty="0">
                <a:latin typeface="Helvetica" pitchFamily="2" charset="0"/>
              </a:rPr>
              <a:t>-ординация</a:t>
            </a:r>
          </a:p>
        </p:txBody>
      </p:sp>
    </p:spTree>
    <p:extLst>
      <p:ext uri="{BB962C8B-B14F-4D97-AF65-F5344CB8AC3E}">
        <p14:creationId xmlns:p14="http://schemas.microsoft.com/office/powerpoint/2010/main" val="127470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vladk\OneDrive\Рабочий стол\lection\data (1)\Support_part_2\04_cluster_alk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048" y="2788654"/>
            <a:ext cx="3240000" cy="235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65986" y="382961"/>
            <a:ext cx="1911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Снижение размерности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55496-061B-CD1D-EC9D-3F096DB2DAB0}"/>
              </a:ext>
            </a:extLst>
          </p:cNvPr>
          <p:cNvSpPr txBox="1"/>
          <p:nvPr/>
        </p:nvSpPr>
        <p:spPr>
          <a:xfrm>
            <a:off x="163971" y="665919"/>
            <a:ext cx="419200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Helvetica" pitchFamily="2" charset="0"/>
              </a:rPr>
              <a:t>Многомерное </a:t>
            </a:r>
            <a:r>
              <a:rPr lang="ru-RU" sz="1100" dirty="0" err="1">
                <a:latin typeface="Helvetica" pitchFamily="2" charset="0"/>
              </a:rPr>
              <a:t>шкалирование</a:t>
            </a:r>
            <a:r>
              <a:rPr lang="ru-RU" sz="1100" dirty="0">
                <a:latin typeface="Helvetica" pitchFamily="2" charset="0"/>
              </a:rPr>
              <a:t> (</a:t>
            </a:r>
            <a:r>
              <a:rPr lang="en-US" sz="1100" dirty="0">
                <a:latin typeface="Helvetica" pitchFamily="2" charset="0"/>
              </a:rPr>
              <a:t>MDS),</a:t>
            </a:r>
            <a:r>
              <a:rPr lang="ru-RU" sz="1100" dirty="0">
                <a:latin typeface="Helvetica" pitchFamily="2" charset="0"/>
              </a:rPr>
              <a:t> чаще всего применяется в гидробиологии, версия которая применяется сейчас введена в 1964 г. Считается на базе матриц</a:t>
            </a:r>
            <a:r>
              <a:rPr lang="en-US" sz="1100" dirty="0">
                <a:latin typeface="Helvetica" pitchFamily="2" charset="0"/>
              </a:rPr>
              <a:t> </a:t>
            </a:r>
            <a:r>
              <a:rPr lang="ru-RU" sz="1100" dirty="0">
                <a:latin typeface="Helvetica" pitchFamily="2" charset="0"/>
              </a:rPr>
              <a:t>расстояний</a:t>
            </a:r>
          </a:p>
          <a:p>
            <a:endParaRPr lang="ru-RU" sz="11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0"/>
            <a:ext cx="8229600" cy="349548"/>
          </a:xfrm>
        </p:spPr>
        <p:txBody>
          <a:bodyPr>
            <a:normAutofit fontScale="90000"/>
          </a:bodyPr>
          <a:lstStyle/>
          <a:p>
            <a:r>
              <a:rPr lang="ru-RU" sz="1800" b="1" dirty="0">
                <a:latin typeface="Helvetica" pitchFamily="2" charset="0"/>
              </a:rPr>
              <a:t>Стандартные подходы к аналитике гидробиологических данных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81149" y="3003798"/>
            <a:ext cx="149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Исходные данные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4771" y="1491630"/>
            <a:ext cx="266265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>
                <a:latin typeface="Helvetica" pitchFamily="2" charset="0"/>
              </a:rPr>
              <a:t>Чаще всего в экологических работах используется индекс сходства </a:t>
            </a:r>
            <a:r>
              <a:rPr lang="ru-RU" sz="1100" dirty="0" err="1">
                <a:latin typeface="Helvetica" pitchFamily="2" charset="0"/>
              </a:rPr>
              <a:t>Брэя-Кёртиса</a:t>
            </a:r>
            <a:r>
              <a:rPr lang="ru-RU" sz="1100" dirty="0">
                <a:latin typeface="Helvetica" pitchFamily="2" charset="0"/>
              </a:rPr>
              <a:t>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04527CA-7FB6-81B4-3012-4D319E20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430" y="1347614"/>
            <a:ext cx="1800000" cy="6923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9933" y="2243314"/>
            <a:ext cx="249390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Helvetica" pitchFamily="2" charset="0"/>
              </a:rPr>
              <a:t>Также могут использоваться Евклидово расстояние, метрика </a:t>
            </a:r>
            <a:r>
              <a:rPr lang="ru-RU" sz="1100" dirty="0" err="1">
                <a:latin typeface="Helvetica" pitchFamily="2" charset="0"/>
              </a:rPr>
              <a:t>Жаккара</a:t>
            </a:r>
            <a:r>
              <a:rPr lang="ru-RU" sz="1100" dirty="0">
                <a:latin typeface="Helvetica" pitchFamily="2" charset="0"/>
              </a:rPr>
              <a:t> и другие метрики</a:t>
            </a:r>
          </a:p>
        </p:txBody>
      </p:sp>
      <p:pic>
        <p:nvPicPr>
          <p:cNvPr id="2050" name="Picture 2" descr="C:\Users\vladk\OneDrive\Рабочий стол\lection\data (1)\Support_part_2\02_mds_alko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11510"/>
            <a:ext cx="3600000" cy="234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012061"/>
              </p:ext>
            </p:extLst>
          </p:nvPr>
        </p:nvGraphicFramePr>
        <p:xfrm>
          <a:off x="140402" y="3474302"/>
          <a:ext cx="4428162" cy="1455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5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6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8608"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Продукт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Цвет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Калорийность (ккал/100 мл)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Сахар (г/100 мл)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Крепость (%)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Кислотность (</a:t>
                      </a:r>
                      <a:r>
                        <a:rPr lang="en-US" sz="600" b="1" u="none" strike="noStrike" dirty="0">
                          <a:effectLst/>
                          <a:latin typeface="Helvetica" pitchFamily="2" charset="0"/>
                        </a:rPr>
                        <a:t>pH)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Естественное брожение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 err="1">
                          <a:effectLst/>
                          <a:latin typeface="Helvetica" pitchFamily="2" charset="0"/>
                        </a:rPr>
                        <a:t>Газированность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Исходный продукт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Красное вино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7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82,5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1,25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13,5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3,45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Нет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Виноград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Белое вино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2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77,5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12,5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3,15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 dirty="0">
                          <a:effectLst/>
                        </a:rPr>
                        <a:t>Да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Нет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Виноград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Сидр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57,5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5,5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3,55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Низкая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Яблоки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Чача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225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50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Дистиляция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Нет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Виноград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Кефир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57,5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4,5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1,25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4,4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Низкая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Молоко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 dirty="0">
                          <a:effectLst/>
                          <a:latin typeface="Helvetica" pitchFamily="2" charset="0"/>
                        </a:rPr>
                        <a:t>Самогон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225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50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 dirty="0">
                          <a:effectLst/>
                        </a:rPr>
                        <a:t>4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Дистиляция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Нет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Пшено / Картофель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Граппа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1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235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50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Дистиляция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Нет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Виноград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Молодое вино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7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77,5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8,5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3,4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Низкая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Виноград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>
                          <a:effectLst/>
                          <a:latin typeface="Helvetica" pitchFamily="2" charset="0"/>
                        </a:rPr>
                        <a:t>Квас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6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25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4,5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0,9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3,85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Хлебное сусло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u="none" strike="noStrike" dirty="0" err="1">
                          <a:effectLst/>
                          <a:latin typeface="Helvetica" pitchFamily="2" charset="0"/>
                        </a:rPr>
                        <a:t>Лагер</a:t>
                      </a:r>
                      <a:endParaRPr lang="ru-RU" sz="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4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45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0,6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5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u="none" strike="noStrike">
                          <a:effectLst/>
                        </a:rPr>
                        <a:t>4,3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>
                          <a:effectLst/>
                        </a:rPr>
                        <a:t>Да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u="none" strike="noStrike" dirty="0">
                          <a:effectLst/>
                        </a:rPr>
                        <a:t>Сусло</a:t>
                      </a:r>
                      <a:endParaRPr lang="ru-RU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486" marR="5486" marT="5486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Рисунок 7" descr="Изображение выглядит как Шрифт, линия, число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D6A209-494E-8F0E-0F0E-AEB19BBD4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524" y="2210067"/>
            <a:ext cx="1492460" cy="51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86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vladk\OneDrive\Рабочий стол\lection\data (1)\Support_part_2\kara_all_type_exp\kara12_east_all_options_stand_transform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" r="1156"/>
          <a:stretch/>
        </p:blipFill>
        <p:spPr bwMode="auto">
          <a:xfrm>
            <a:off x="5795857" y="3114234"/>
            <a:ext cx="3312000" cy="189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356DA4-F352-46FA-E782-C6CE3B0CD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832" y="2175321"/>
            <a:ext cx="1440000" cy="682971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65986" y="382961"/>
            <a:ext cx="2268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Многомерное </a:t>
            </a:r>
            <a:r>
              <a:rPr lang="ru-RU" sz="1200" dirty="0" err="1">
                <a:latin typeface="Helvetica" pitchFamily="2" charset="0"/>
              </a:rPr>
              <a:t>шкалирование</a:t>
            </a:r>
            <a:endParaRPr lang="ru-RU" sz="1200" dirty="0">
              <a:latin typeface="Helvetica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55496-061B-CD1D-EC9D-3F096DB2DAB0}"/>
              </a:ext>
            </a:extLst>
          </p:cNvPr>
          <p:cNvSpPr txBox="1"/>
          <p:nvPr/>
        </p:nvSpPr>
        <p:spPr>
          <a:xfrm>
            <a:off x="179513" y="771550"/>
            <a:ext cx="288031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Helvetica" pitchFamily="2" charset="0"/>
              </a:rPr>
              <a:t>Вопрос на основе чего считать матрицы сходства: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100" dirty="0">
                <a:latin typeface="Helvetica" pitchFamily="2" charset="0"/>
              </a:rPr>
              <a:t>присутствие/отсутствие видов на станциях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100" dirty="0">
                <a:latin typeface="Helvetica" pitchFamily="2" charset="0"/>
              </a:rPr>
              <a:t>численность вида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100" dirty="0">
                <a:latin typeface="Helvetica" pitchFamily="2" charset="0"/>
              </a:rPr>
              <a:t>биомасса вида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100" dirty="0">
                <a:latin typeface="Helvetica" pitchFamily="2" charset="0"/>
              </a:rPr>
              <a:t>показатель учитывающий численность и биомассу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100" dirty="0">
                <a:latin typeface="Helvetica" pitchFamily="2" charset="0"/>
              </a:rPr>
              <a:t>всё сразу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0"/>
            <a:ext cx="8229600" cy="349548"/>
          </a:xfrm>
        </p:spPr>
        <p:txBody>
          <a:bodyPr>
            <a:normAutofit fontScale="90000"/>
          </a:bodyPr>
          <a:lstStyle/>
          <a:p>
            <a:r>
              <a:rPr lang="ru-RU" sz="1800" b="1" dirty="0">
                <a:latin typeface="Helvetica" pitchFamily="2" charset="0"/>
              </a:rPr>
              <a:t>Стандартные подходы к аналитике гидробиологических данных</a:t>
            </a:r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0BD148D2-1376-4000-911D-7B2176A6A53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1" r="26403"/>
          <a:stretch/>
        </p:blipFill>
        <p:spPr>
          <a:xfrm>
            <a:off x="3203848" y="804838"/>
            <a:ext cx="2520000" cy="1758082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E44A57D-F4A7-433A-DAD3-2869A15ACF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5" r="10753"/>
          <a:stretch/>
        </p:blipFill>
        <p:spPr>
          <a:xfrm>
            <a:off x="5795857" y="771550"/>
            <a:ext cx="3312647" cy="17962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3310173" y="525329"/>
            <a:ext cx="2015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По присутствию/отсутствию видов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6404074" y="540187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По численности</a:t>
            </a:r>
          </a:p>
        </p:txBody>
      </p:sp>
      <p:pic>
        <p:nvPicPr>
          <p:cNvPr id="14" name="Рисунок 13" descr="Изображение выглядит как текст, снимок экрана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717EF82F-07E6-EE55-BAEB-9ED396750D8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0" r="27733"/>
          <a:stretch/>
        </p:blipFill>
        <p:spPr>
          <a:xfrm>
            <a:off x="481286" y="3195837"/>
            <a:ext cx="2427559" cy="1756800"/>
          </a:xfrm>
          <a:prstGeom prst="rect">
            <a:avLst/>
          </a:prstGeom>
        </p:spPr>
      </p:pic>
      <p:pic>
        <p:nvPicPr>
          <p:cNvPr id="3074" name="Picture 2" descr="C:\Users\vladk\OneDrive\Рабочий стол\lection\data (1)\Support_part_2\kara_all_type_exp\r_lab_just_flip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8" r="32428"/>
          <a:stretch/>
        </p:blipFill>
        <p:spPr bwMode="auto">
          <a:xfrm>
            <a:off x="3173541" y="3157066"/>
            <a:ext cx="2497985" cy="180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1193164" y="2902899"/>
            <a:ext cx="10038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По биомассе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3347986" y="2893652"/>
            <a:ext cx="22012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По объединенному показателю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6404074" y="2896397"/>
            <a:ext cx="1165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По всему сразу</a:t>
            </a:r>
          </a:p>
        </p:txBody>
      </p:sp>
    </p:spTree>
    <p:extLst>
      <p:ext uri="{BB962C8B-B14F-4D97-AF65-F5344CB8AC3E}">
        <p14:creationId xmlns:p14="http://schemas.microsoft.com/office/powerpoint/2010/main" val="90600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65986" y="382961"/>
            <a:ext cx="1911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itchFamily="2" charset="0"/>
              </a:rPr>
              <a:t>Снижение размерности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55496-061B-CD1D-EC9D-3F096DB2DAB0}"/>
              </a:ext>
            </a:extLst>
          </p:cNvPr>
          <p:cNvSpPr txBox="1"/>
          <p:nvPr/>
        </p:nvSpPr>
        <p:spPr>
          <a:xfrm>
            <a:off x="171918" y="659960"/>
            <a:ext cx="23838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latin typeface="Helvetica" pitchFamily="2" charset="0"/>
              </a:rPr>
              <a:t>PCA – </a:t>
            </a:r>
            <a:r>
              <a:rPr lang="ru-RU" sz="1100" dirty="0">
                <a:latin typeface="Helvetica" pitchFamily="2" charset="0"/>
              </a:rPr>
              <a:t>самый старый метод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 err="1">
                <a:latin typeface="Helvetica" pitchFamily="2" charset="0"/>
              </a:rPr>
              <a:t>nMDS</a:t>
            </a:r>
            <a:r>
              <a:rPr lang="en-US" sz="1100" dirty="0">
                <a:latin typeface="Helvetica" pitchFamily="2" charset="0"/>
              </a:rPr>
              <a:t> – </a:t>
            </a:r>
            <a:r>
              <a:rPr lang="ru-RU" sz="1100" dirty="0">
                <a:latin typeface="Helvetica" pitchFamily="2" charset="0"/>
              </a:rPr>
              <a:t>популярен в морских экологических работах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100" dirty="0">
                <a:latin typeface="Helvetica" pitchFamily="2" charset="0"/>
              </a:rPr>
              <a:t>новые популярные методы снижения размерности (</a:t>
            </a:r>
            <a:r>
              <a:rPr lang="ru-RU" sz="1100" dirty="0" err="1">
                <a:latin typeface="Helvetica" pitchFamily="2" charset="0"/>
              </a:rPr>
              <a:t>tSNE</a:t>
            </a:r>
            <a:r>
              <a:rPr lang="ru-RU" sz="1100" dirty="0">
                <a:latin typeface="Helvetica" pitchFamily="2" charset="0"/>
              </a:rPr>
              <a:t>, UMAP)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0"/>
            <a:ext cx="8229600" cy="349548"/>
          </a:xfrm>
        </p:spPr>
        <p:txBody>
          <a:bodyPr>
            <a:normAutofit fontScale="90000"/>
          </a:bodyPr>
          <a:lstStyle/>
          <a:p>
            <a:r>
              <a:rPr lang="ru-RU" sz="1800" b="1" dirty="0">
                <a:latin typeface="Helvetica" pitchFamily="2" charset="0"/>
              </a:rPr>
              <a:t>Стандартные подходы к аналитике гидробиологических данных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7077371" y="347184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MDS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6969149" y="2601350"/>
            <a:ext cx="562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UMAP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3804756" y="351033"/>
            <a:ext cx="455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PCA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953" y="4885774"/>
            <a:ext cx="29402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" pitchFamily="2" charset="0"/>
              </a:rPr>
              <a:t>Все варианты по объединенному показателю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7E43FF-25A6-1DD8-C627-34298F75B3AE}"/>
              </a:ext>
            </a:extLst>
          </p:cNvPr>
          <p:cNvSpPr txBox="1"/>
          <p:nvPr/>
        </p:nvSpPr>
        <p:spPr>
          <a:xfrm>
            <a:off x="3804756" y="2581590"/>
            <a:ext cx="4908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err="1">
                <a:latin typeface="Helvetica" pitchFamily="2" charset="0"/>
              </a:rPr>
              <a:t>tSNE</a:t>
            </a:r>
            <a:endParaRPr lang="ru-RU" sz="1000" b="1" dirty="0">
              <a:latin typeface="Helvetica" pitchFamily="2" charset="0"/>
            </a:endParaRPr>
          </a:p>
        </p:txBody>
      </p:sp>
      <p:pic>
        <p:nvPicPr>
          <p:cNvPr id="5125" name="Picture 5" descr="C:\Users\vladk\OneDrive\Рабочий стол\lection\data (1)\Support_part_2\k12_r_ts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875233"/>
            <a:ext cx="2880000" cy="191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:\Users\vladk\OneDrive\Рабочий стол\lection\data (1)\Support_part_2\k12_r_uma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456" y="2881672"/>
            <a:ext cx="2880000" cy="192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C:\Users\vladk\OneDrive\Рабочий стол\lection\data (1)\Support_part_2\k12_r_md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617619"/>
            <a:ext cx="2880000" cy="191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:\Users\vladk\OneDrive\Рабочий стол\lection\data (1)\Support_part_2\k12_r_pc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617619"/>
            <a:ext cx="2880000" cy="190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94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vladk\OneDrive\Рабочий стол\lection\data (1)\Support_part_3_viz\hydr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77933"/>
            <a:ext cx="3240000" cy="243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13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318592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морских экологических данных</a:t>
            </a:r>
          </a:p>
        </p:txBody>
      </p:sp>
      <p:pic>
        <p:nvPicPr>
          <p:cNvPr id="1027" name="Picture 3" descr="C:\Users\vladk\OneDrive\Рабочий стол\lection\data (1)\Support_part_3_viz\win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8" t="2500" r="4671" b="5730"/>
          <a:stretch/>
        </p:blipFill>
        <p:spPr bwMode="auto">
          <a:xfrm>
            <a:off x="898208" y="418286"/>
            <a:ext cx="2520000" cy="261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93657" y="330947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Лепестковая диаграмма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3563888" y="380135"/>
            <a:ext cx="14061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Линейные графики</a:t>
            </a:r>
          </a:p>
        </p:txBody>
      </p:sp>
      <p:pic>
        <p:nvPicPr>
          <p:cNvPr id="1026" name="Picture 2" descr="C:\Users\vladk\OneDrive\Рабочий стол\lection\data (1)\Support_part_5_hm\temperature_lineplot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134910"/>
            <a:ext cx="3600000" cy="183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vladk\OneDrive\Рабочий стол\lection\data (1)\Support_part_5_hm\sea_ice_lineplot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122008"/>
            <a:ext cx="3600000" cy="186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011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ABC5B7-5005-EFD4-FF83-6F37EF4C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17A5027-A602-52C3-3B57-0AFFC3DE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318592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морских экологических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FB8466-CC64-E2DD-2A70-538D898D3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26" y="399154"/>
            <a:ext cx="2160000" cy="32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5506D0-C447-1522-D9CC-05B731920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52" y="3719716"/>
            <a:ext cx="5400000" cy="132511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C37A555-ADCF-BD59-D961-8400D00F51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732" y="558450"/>
            <a:ext cx="2160000" cy="2153915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ADCB8FC-D4B6-62CF-4969-A9C497E859EE}"/>
              </a:ext>
            </a:extLst>
          </p:cNvPr>
          <p:cNvSpPr txBox="1">
            <a:spLocks/>
          </p:cNvSpPr>
          <p:nvPr/>
        </p:nvSpPr>
        <p:spPr>
          <a:xfrm>
            <a:off x="251520" y="239858"/>
            <a:ext cx="1863584" cy="31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000" b="1" dirty="0">
                <a:latin typeface="Helvetica" pitchFamily="2" charset="0"/>
              </a:rPr>
              <a:t>Исторические примеры</a:t>
            </a:r>
          </a:p>
        </p:txBody>
      </p:sp>
    </p:spTree>
    <p:extLst>
      <p:ext uri="{BB962C8B-B14F-4D97-AF65-F5344CB8AC3E}">
        <p14:creationId xmlns:p14="http://schemas.microsoft.com/office/powerpoint/2010/main" val="3196385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7D6647-4298-058E-A302-C049F09113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905828"/>
            <a:ext cx="3600000" cy="2030095"/>
          </a:xfrm>
          <a:prstGeom prst="rect">
            <a:avLst/>
          </a:prstGeom>
        </p:spPr>
      </p:pic>
      <p:pic>
        <p:nvPicPr>
          <p:cNvPr id="2060" name="Picture 12" descr="C:\Users\vladk\OneDrive\Рабочий стол\lection\data (1)\Support_part_3_viz\pieplot_kar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53718"/>
            <a:ext cx="3420000" cy="229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2053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467544" y="267494"/>
            <a:ext cx="1495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Круговая диаграмма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258188" y="2613561"/>
            <a:ext cx="27013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Нормированная столбчатая диаграмма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4355976" y="237297"/>
            <a:ext cx="26404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Столбчатая диаграмма с накоплением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4355976" y="2643758"/>
            <a:ext cx="22012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Простая столбчатая диаграмма</a:t>
            </a:r>
          </a:p>
        </p:txBody>
      </p:sp>
      <p:pic>
        <p:nvPicPr>
          <p:cNvPr id="2062" name="Picture 14" descr="C:\Users\vladk\OneDrive\Рабочий стол\lection\data (1)\Support_part_3_viz\barplot_kara_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36" y="2859782"/>
            <a:ext cx="3600000" cy="223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C:\Users\vladk\OneDrive\Рабочий стол\lection\data (1)\Support_part_3_viz\barplot_kara_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67084"/>
            <a:ext cx="3600000" cy="217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17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16055-4012-BADA-FA86-996DEE18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3EE75D-4151-C8E8-2F48-D65CB174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16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36B1A1B-60E5-09D5-983C-C6E4BC832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318592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морских экологических данных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8E0BDE31-1DF6-54ED-00B5-4FBF66DCC7B9}"/>
              </a:ext>
            </a:extLst>
          </p:cNvPr>
          <p:cNvSpPr txBox="1">
            <a:spLocks/>
          </p:cNvSpPr>
          <p:nvPr/>
        </p:nvSpPr>
        <p:spPr>
          <a:xfrm>
            <a:off x="251520" y="239858"/>
            <a:ext cx="1863584" cy="31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000" b="1" dirty="0">
                <a:latin typeface="Helvetica" pitchFamily="2" charset="0"/>
              </a:rPr>
              <a:t>Исторические примеры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20F143-DF70-A3F9-6D53-1CD8E5396A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60" y="600409"/>
            <a:ext cx="3600000" cy="192783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7B1E9A-4192-A3D3-4CF0-FE83F41AAB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27" y="2562224"/>
            <a:ext cx="2919600" cy="25108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F385C4-85BD-C8AA-F1AC-4ABEFC5FC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74" y="622085"/>
            <a:ext cx="3600000" cy="41913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DD0591-A64B-B795-FE12-D8F6A5826CC1}"/>
              </a:ext>
            </a:extLst>
          </p:cNvPr>
          <p:cNvSpPr txBox="1"/>
          <p:nvPr/>
        </p:nvSpPr>
        <p:spPr>
          <a:xfrm>
            <a:off x="4707374" y="624417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1963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3D933-3889-8F82-CB24-F57BF7BB6AD3}"/>
              </a:ext>
            </a:extLst>
          </p:cNvPr>
          <p:cNvSpPr txBox="1"/>
          <p:nvPr/>
        </p:nvSpPr>
        <p:spPr>
          <a:xfrm>
            <a:off x="719807" y="2528240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1939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474A4-1FB8-D942-A434-01CE3C96201E}"/>
              </a:ext>
            </a:extLst>
          </p:cNvPr>
          <p:cNvSpPr txBox="1"/>
          <p:nvPr/>
        </p:nvSpPr>
        <p:spPr>
          <a:xfrm>
            <a:off x="253013" y="566425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1928</a:t>
            </a:r>
            <a:endParaRPr lang="ru-RU" sz="10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621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C:\Users\vladk\OneDrive\Рабочий стол\lection\data (1)\Support_part_2\scatt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664" y="2783244"/>
            <a:ext cx="3420000" cy="233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vladk\OneDrive\Рабочий стол\lection\data (1)\Support_part_2\histplo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69566"/>
            <a:ext cx="3060000" cy="207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17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2053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299904" y="259874"/>
            <a:ext cx="1008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Гистограмма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258188" y="2598321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Скрипичная диаграмма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4355976" y="259874"/>
            <a:ext cx="1441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Диаграмма размаха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4312022" y="2567840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Диаграмма рассеяния</a:t>
            </a:r>
          </a:p>
        </p:txBody>
      </p:sp>
      <p:pic>
        <p:nvPicPr>
          <p:cNvPr id="3077" name="Picture 5" descr="C:\Users\vladk\OneDrive\Рабочий стол\lection\data (1)\Support_part_3_viz\boxplot_kar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044" y="483518"/>
            <a:ext cx="3420000" cy="216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vladk\OneDrive\Рабочий стол\lection\data (1)\Support_part_2\violin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56" y="2847567"/>
            <a:ext cx="3420000" cy="226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285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18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1115616" y="699782"/>
            <a:ext cx="11833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Парный график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4018813" y="706144"/>
            <a:ext cx="11769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Тепловая карта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55CAB0-91E3-1F80-151F-FA1E5289EC6D}"/>
              </a:ext>
            </a:extLst>
          </p:cNvPr>
          <p:cNvSpPr txBox="1"/>
          <p:nvPr/>
        </p:nvSpPr>
        <p:spPr>
          <a:xfrm>
            <a:off x="6639531" y="661939"/>
            <a:ext cx="1995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latin typeface="Helvetica" pitchFamily="2" charset="0"/>
              </a:rPr>
              <a:t>Диаграмма размаха и скрипичная диаграмма</a:t>
            </a:r>
          </a:p>
        </p:txBody>
      </p:sp>
      <p:pic>
        <p:nvPicPr>
          <p:cNvPr id="4098" name="Picture 2" descr="C:\Users\vladk\OneDrive\Рабочий стол\lection\data (1)\Support_part_2\pairplo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81491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vladk\OneDrive\Рабочий стол\lection\data (1)\Support_part_2\heatma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7" y="1131590"/>
            <a:ext cx="2880000" cy="2545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vladk\OneDrive\Рабочий стол\lection\data (1)\Support_part_3_viz\violin_box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160" y="1461090"/>
            <a:ext cx="2880000" cy="19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347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19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pic>
        <p:nvPicPr>
          <p:cNvPr id="7170" name="Picture 2" descr="C:\Users\vladk\OneDrive\Рабочий стол\lection\data (1)\Support_part_3_viz\13_worldcloud_species_image_ba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702380"/>
            <a:ext cx="3240000" cy="239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:\Users\vladk\OneDrive\Рабочий стол\lection\data (1)\Support_part_3_viz\06_Sankey_bentho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0" t="3838" r="6165" b="12326"/>
          <a:stretch/>
        </p:blipFill>
        <p:spPr bwMode="auto">
          <a:xfrm>
            <a:off x="539552" y="240753"/>
            <a:ext cx="3566160" cy="237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 descr="C:\Users\vladk\OneDrive\Рабочий стол\lection\data (1)\Support_part_3_viz\14_treemap_taxons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" t="7112" r="1892" b="3396"/>
          <a:stretch/>
        </p:blipFill>
        <p:spPr bwMode="auto">
          <a:xfrm>
            <a:off x="4932040" y="344050"/>
            <a:ext cx="3436620" cy="230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11" descr="C:\Users\vladk\OneDrive\Рабочий стол\lection\data (1)\Support_part_3_viz\09_Radar_bentho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36" y="2702380"/>
            <a:ext cx="3240000" cy="231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964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EFE14F-E39C-B333-F285-34FC7640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288" y="169476"/>
            <a:ext cx="3240000" cy="23694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295A1C-697F-F0B9-0B6E-E8F49F4B95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6" r="16926"/>
          <a:stretch>
            <a:fillRect/>
          </a:stretch>
        </p:blipFill>
        <p:spPr>
          <a:xfrm>
            <a:off x="31581" y="1494374"/>
            <a:ext cx="3463120" cy="2037076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20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18728" y="344250"/>
            <a:ext cx="32917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Визуализация на картах</a:t>
            </a:r>
            <a:endParaRPr lang="en-US" sz="1400" b="1" dirty="0">
              <a:latin typeface="Helvetica" pitchFamily="2" charset="0"/>
            </a:endParaRPr>
          </a:p>
          <a:p>
            <a:endParaRPr lang="en-US" sz="1400" b="1" dirty="0">
              <a:latin typeface="Helvetica" pitchFamily="2" charset="0"/>
            </a:endParaRPr>
          </a:p>
          <a:p>
            <a:r>
              <a:rPr lang="ru-RU" sz="1400" dirty="0">
                <a:latin typeface="Helvetica" pitchFamily="2" charset="0"/>
              </a:rPr>
              <a:t>Комбинации карт и </a:t>
            </a:r>
            <a:r>
              <a:rPr lang="ru-RU" sz="1400" dirty="0" err="1">
                <a:latin typeface="Helvetica" pitchFamily="2" charset="0"/>
              </a:rPr>
              <a:t>ординаций</a:t>
            </a:r>
            <a:r>
              <a:rPr lang="ru-RU" sz="1400" dirty="0">
                <a:latin typeface="Helvetica" pitchFamily="2" charset="0"/>
              </a:rPr>
              <a:t> с учетом факторов окружающей среды</a:t>
            </a:r>
            <a:br>
              <a:rPr lang="ru-RU" dirty="0">
                <a:latin typeface="Helvetica" pitchFamily="2" charset="0"/>
              </a:rPr>
            </a:br>
            <a:endParaRPr lang="ru-RU" dirty="0">
              <a:latin typeface="Helvetica" pitchFamily="2" charset="0"/>
            </a:endParaRPr>
          </a:p>
        </p:txBody>
      </p:sp>
      <p:pic>
        <p:nvPicPr>
          <p:cNvPr id="8" name="Picture 3" descr="N:\!_KARA_project_11\!!!!!PRESENT_1303\east_geo_ed.bmp">
            <a:extLst>
              <a:ext uri="{FF2B5EF4-FFF2-40B4-BE49-F238E27FC236}">
                <a16:creationId xmlns:a16="http://schemas.microsoft.com/office/drawing/2014/main" id="{CF7E85FF-109A-C964-7E4B-D5C34B59A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768" y="1115016"/>
            <a:ext cx="1980000" cy="340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C119B7-5F7C-457D-8D83-1EB7C49FDE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288" y="2571750"/>
            <a:ext cx="3240000" cy="228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53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705F35C9-3B92-E3B4-96FC-0F2F2F2A79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987574"/>
            <a:ext cx="2520000" cy="3812811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21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3528" y="393296"/>
            <a:ext cx="3291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Визуализация на картах</a:t>
            </a:r>
            <a:endParaRPr lang="ru-RU" dirty="0">
              <a:latin typeface="Helvetica" pitchFamily="2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110D61B-AC6C-E5BA-2CD3-E8B84CC9C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86" y="1040780"/>
            <a:ext cx="2520000" cy="3515955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1B59321D-41F8-CA0A-0876-1C81FE9B3A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742" y="987574"/>
            <a:ext cx="2520000" cy="38128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8233" y="713515"/>
            <a:ext cx="2802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Число видов на станции (размер кружка)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72" y="741353"/>
            <a:ext cx="1952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Солёность (интерполяция)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9872" y="741353"/>
            <a:ext cx="20409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Температура (интерполяция)</a:t>
            </a:r>
          </a:p>
        </p:txBody>
      </p:sp>
    </p:spTree>
    <p:extLst>
      <p:ext uri="{BB962C8B-B14F-4D97-AF65-F5344CB8AC3E}">
        <p14:creationId xmlns:p14="http://schemas.microsoft.com/office/powerpoint/2010/main" val="4117064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13DD-4A1A-7898-9DE2-763460A3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F83FF2-0AC8-EC84-3466-C040F38508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33281"/>
            <a:ext cx="3960000" cy="276518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EF6DEA-2394-7A8D-B7A8-5BF37BC3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22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94A8219-76E2-5CE1-7333-99281C98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318592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морских экологических данных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0A723AA-95B2-6E61-BC7B-E3CFD162A9A3}"/>
              </a:ext>
            </a:extLst>
          </p:cNvPr>
          <p:cNvSpPr txBox="1">
            <a:spLocks/>
          </p:cNvSpPr>
          <p:nvPr/>
        </p:nvSpPr>
        <p:spPr>
          <a:xfrm>
            <a:off x="251520" y="239858"/>
            <a:ext cx="1863584" cy="31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000" b="1" dirty="0">
                <a:latin typeface="Helvetica" pitchFamily="2" charset="0"/>
              </a:rPr>
              <a:t>Исторические примеры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EC48B2-AFF4-36F2-E1D0-197E239354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323291"/>
            <a:ext cx="2709672" cy="15880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5F9BA9-046A-ADC4-5280-AA115DB904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200" y="3305122"/>
            <a:ext cx="3600000" cy="17359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FB10821-CE92-245B-C5DA-7246DE806C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00" y="412569"/>
            <a:ext cx="2340000" cy="27858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AB08FB-E57D-46C8-F6D8-734202F43470}"/>
              </a:ext>
            </a:extLst>
          </p:cNvPr>
          <p:cNvSpPr txBox="1"/>
          <p:nvPr/>
        </p:nvSpPr>
        <p:spPr>
          <a:xfrm>
            <a:off x="4860032" y="4665078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1928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46D29-3C5A-D20F-556E-3B10D24DEA58}"/>
              </a:ext>
            </a:extLst>
          </p:cNvPr>
          <p:cNvSpPr txBox="1"/>
          <p:nvPr/>
        </p:nvSpPr>
        <p:spPr>
          <a:xfrm>
            <a:off x="4916406" y="384458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1904</a:t>
            </a:r>
            <a:endParaRPr lang="ru-RU" sz="10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011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23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3528" y="393296"/>
            <a:ext cx="3291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Визуализация на картах</a:t>
            </a:r>
            <a:endParaRPr lang="ru-RU" dirty="0">
              <a:latin typeface="Helvetica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16" y="701073"/>
            <a:ext cx="2408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Helvetica" pitchFamily="2" charset="0"/>
              </a:rPr>
              <a:t>Представления данных в ячейках</a:t>
            </a:r>
            <a:r>
              <a:rPr lang="en-US" sz="1200" b="1" dirty="0">
                <a:latin typeface="Helvetica" pitchFamily="2" charset="0"/>
              </a:rPr>
              <a:t> h3, s2</a:t>
            </a:r>
            <a:r>
              <a:rPr lang="ru-RU" sz="1200" b="1" dirty="0">
                <a:latin typeface="Helvetica" pitchFamily="2" charset="0"/>
              </a:rPr>
              <a:t> 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65692"/>
              </p:ext>
            </p:extLst>
          </p:nvPr>
        </p:nvGraphicFramePr>
        <p:xfrm>
          <a:off x="2483768" y="507002"/>
          <a:ext cx="2586924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6922"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Тип</a:t>
                      </a:r>
                      <a:r>
                        <a:rPr lang="ru-RU" sz="8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ячейки</a:t>
                      </a:r>
                      <a:endParaRPr lang="en-US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Размер</a:t>
                      </a:r>
                      <a:r>
                        <a:rPr lang="ru-RU" sz="8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ячейки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Площадь км</a:t>
                      </a:r>
                      <a:r>
                        <a:rPr lang="ru-RU" sz="80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2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6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h3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36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06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h3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5.2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06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h3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0.7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06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s2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06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s2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20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06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s2</a:t>
                      </a:r>
                      <a:endParaRPr lang="ru-RU" sz="8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5.1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Picture 2" descr="C:\Users\vladk\OneDrive\Рабочий стол\lection\data (1)\Support_part_5_hm\_01_geotif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18398"/>
            <a:ext cx="2520000" cy="236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:\Users\vladk\OneDrive\Рабочий стол\lection\data (1)\Support_part_5_hm\_01_s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000" y="2418398"/>
            <a:ext cx="2520000" cy="236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C:\Users\vladk\OneDrive\Рабочий стол\lection\data (1)\Support_part_5_hm\_01_h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406879"/>
            <a:ext cx="2520000" cy="236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A22986-8A58-77B2-8CA6-F5379EF64C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322" y="507002"/>
            <a:ext cx="1800000" cy="15092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318447E-168F-C85A-3BAE-092B1F11F0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41"/>
          <a:stretch>
            <a:fillRect/>
          </a:stretch>
        </p:blipFill>
        <p:spPr>
          <a:xfrm>
            <a:off x="7164288" y="504337"/>
            <a:ext cx="1800000" cy="15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32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24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данных о морских биологических сообществах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3528" y="393296"/>
            <a:ext cx="329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Helvetica" pitchFamily="2" charset="0"/>
              </a:rPr>
              <a:t>Визуализация на картах</a:t>
            </a:r>
            <a:endParaRPr lang="ru-RU" sz="1200" dirty="0">
              <a:latin typeface="Helvetica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E89515-E846-9DAB-79AF-1835308E3A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272" y="768557"/>
            <a:ext cx="5040000" cy="382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74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Компьютерное зрение в гидробиологии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35496" y="352318"/>
            <a:ext cx="6552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Helvetica" pitchFamily="2" charset="0"/>
              </a:rPr>
              <a:t>Исследования в стационарных условиях – анализ поведения рыб в аквариуме</a:t>
            </a:r>
            <a:endParaRPr lang="ru-RU" sz="1200" dirty="0">
              <a:latin typeface="Helvetica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743723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Helvetica" pitchFamily="2" charset="0"/>
              </a:defRPr>
            </a:lvl1pPr>
          </a:lstStyle>
          <a:p>
            <a:r>
              <a:rPr lang="ru-RU" sz="1200" dirty="0"/>
              <a:t>На видеозаписях длинной по одной минуте сравнивается поведение рыб – до/после кормления и другие факторы</a:t>
            </a:r>
          </a:p>
          <a:p>
            <a:r>
              <a:rPr lang="ru-RU" sz="1200" dirty="0"/>
              <a:t>Модель – </a:t>
            </a:r>
            <a:r>
              <a:rPr lang="ru-RU" sz="1200" dirty="0" err="1"/>
              <a:t>дообученная</a:t>
            </a:r>
            <a:r>
              <a:rPr lang="ru-RU" sz="1200" dirty="0"/>
              <a:t> на рыб </a:t>
            </a:r>
            <a:r>
              <a:rPr lang="en-US" sz="1200" dirty="0"/>
              <a:t>YOLOv8</a:t>
            </a:r>
            <a:endParaRPr lang="ru-RU" sz="1200" dirty="0"/>
          </a:p>
        </p:txBody>
      </p:sp>
      <p:pic>
        <p:nvPicPr>
          <p:cNvPr id="1027" name="Picture 3" descr="C:\Users\vladk\OneDrive\Рабочий стол\lection\data (1)\Support_part_4_cv\metric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56223"/>
            <a:ext cx="2772108" cy="90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0DFB79-3D22-3B18-B776-922E3F3F2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023178"/>
            <a:ext cx="2520000" cy="19646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152B7A-63C0-E05E-526A-4F3307311D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16" y="2925512"/>
            <a:ext cx="213626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49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Компьютерное зрение в гидробиологии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8960" y="570674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Анализ продолжительных видеозаписей/больших массивов фото</a:t>
            </a:r>
            <a:endParaRPr lang="ru-RU" sz="1200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443429"/>
            <a:ext cx="3024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Применяется там где долго/тяжело просматривать человеком (объекты встречаются редко) или нужен подсчет объектов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. </a:t>
            </a:r>
            <a:r>
              <a:rPr lang="ru-RU" sz="1200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При анализе записей ТНПА оправдано, но в ограниченных рамках</a:t>
            </a:r>
          </a:p>
        </p:txBody>
      </p:sp>
      <p:pic>
        <p:nvPicPr>
          <p:cNvPr id="1026" name="Picture 2" descr="C:\Users\vladk\OneDrive\Рабочий стол\lection\data (1)\Support_part_4_cv\piramida\PHOTO-2021-08-04-20-56-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65199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ladk\OneDrive\Рабочий стол\lection\data (1)\Support_part_4_cv\piramida\Image-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610" y="3651990"/>
            <a:ext cx="144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019" y="3040537"/>
            <a:ext cx="267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Буксируемая видеосистема применяемая ЦМИ МГУ</a:t>
            </a:r>
          </a:p>
        </p:txBody>
      </p:sp>
    </p:spTree>
    <p:extLst>
      <p:ext uri="{BB962C8B-B14F-4D97-AF65-F5344CB8AC3E}">
        <p14:creationId xmlns:p14="http://schemas.microsoft.com/office/powerpoint/2010/main" val="1262811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1E3669-8DF6-4902-8216-9F6935A17E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232" y="482217"/>
            <a:ext cx="3060000" cy="23323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222555-CE5F-4283-9F0F-54AE1A45D9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4215" y="2788220"/>
            <a:ext cx="3060000" cy="233231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27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Картирование в контексте различных экологических данных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127472" y="277689"/>
            <a:ext cx="44244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Сопоставление гидроакустических данных и экологических</a:t>
            </a:r>
            <a:endParaRPr lang="ru-RU" sz="1100" dirty="0">
              <a:latin typeface="Helvetica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778EF8-8CC7-46E4-A77F-906EBA0DAB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408" y="390148"/>
            <a:ext cx="3060000" cy="2332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E1A7FB-3C82-FB53-BC90-FA6ED2395920}"/>
              </a:ext>
            </a:extLst>
          </p:cNvPr>
          <p:cNvSpPr txBox="1"/>
          <p:nvPr/>
        </p:nvSpPr>
        <p:spPr>
          <a:xfrm>
            <a:off x="5835028" y="267941"/>
            <a:ext cx="22044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Сообщества на старой карте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22929-F388-5CF7-3931-60DA8AE0A59D}"/>
              </a:ext>
            </a:extLst>
          </p:cNvPr>
          <p:cNvSpPr txBox="1"/>
          <p:nvPr/>
        </p:nvSpPr>
        <p:spPr>
          <a:xfrm>
            <a:off x="6044362" y="2666674"/>
            <a:ext cx="18501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Новая карта сообществ</a:t>
            </a:r>
          </a:p>
        </p:txBody>
      </p:sp>
      <p:pic>
        <p:nvPicPr>
          <p:cNvPr id="2050" name="Picture 2" descr="C:\Users\vladk\OneDrive\Рабочий стол\lection\data (1)\Support_part_5_hm\04_vkl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232" y="3000130"/>
            <a:ext cx="3060000" cy="194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457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C4D8-C03A-0642-56A0-C2B788AC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90AB8CC-97CF-753F-2D2C-30C992BA2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133" y="2974474"/>
            <a:ext cx="3600000" cy="184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5F33F4-1F76-6A81-7789-625002A8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28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BA82491-62CE-7EA8-03F6-C282D6BE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318592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Визуализации морских экологических данных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55BDEC4B-7038-F24A-7015-4EDFC311A9CC}"/>
              </a:ext>
            </a:extLst>
          </p:cNvPr>
          <p:cNvSpPr txBox="1">
            <a:spLocks/>
          </p:cNvSpPr>
          <p:nvPr/>
        </p:nvSpPr>
        <p:spPr>
          <a:xfrm>
            <a:off x="251520" y="239858"/>
            <a:ext cx="1863584" cy="31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000" b="1" dirty="0">
                <a:latin typeface="Helvetica" pitchFamily="2" charset="0"/>
              </a:rPr>
              <a:t>Исторические примеры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EED6CE-C958-65D0-8A83-832F239233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133" y="421721"/>
            <a:ext cx="2880000" cy="23954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BFCF97-8A34-5EAE-2D9C-5934AAE5EA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8450"/>
            <a:ext cx="3600000" cy="21219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472A41F-4083-09EF-3D13-5465715AD6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7"/>
          <a:stretch>
            <a:fillRect/>
          </a:stretch>
        </p:blipFill>
        <p:spPr>
          <a:xfrm>
            <a:off x="1178443" y="2707576"/>
            <a:ext cx="2880000" cy="23762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CE962C-84FA-F46D-5BE7-10BA75FD5F6D}"/>
              </a:ext>
            </a:extLst>
          </p:cNvPr>
          <p:cNvSpPr txBox="1"/>
          <p:nvPr/>
        </p:nvSpPr>
        <p:spPr>
          <a:xfrm>
            <a:off x="5382441" y="416854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1915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20D97-E340-53CC-3332-004B2BE59C1B}"/>
              </a:ext>
            </a:extLst>
          </p:cNvPr>
          <p:cNvSpPr txBox="1"/>
          <p:nvPr/>
        </p:nvSpPr>
        <p:spPr>
          <a:xfrm>
            <a:off x="827584" y="585625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1913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B4F7C-1FA2-FE49-2599-A2052508FAF0}"/>
              </a:ext>
            </a:extLst>
          </p:cNvPr>
          <p:cNvSpPr txBox="1"/>
          <p:nvPr/>
        </p:nvSpPr>
        <p:spPr>
          <a:xfrm>
            <a:off x="5416133" y="2974474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1963</a:t>
            </a:r>
            <a:endParaRPr lang="ru-RU" sz="1000" b="1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D98A8-3A00-8EED-4101-0F9D7ACCD006}"/>
              </a:ext>
            </a:extLst>
          </p:cNvPr>
          <p:cNvSpPr txBox="1"/>
          <p:nvPr/>
        </p:nvSpPr>
        <p:spPr>
          <a:xfrm>
            <a:off x="1284213" y="2885668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1939</a:t>
            </a:r>
            <a:endParaRPr lang="ru-RU" sz="10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209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vladk\OneDrive\Рабочий стол\lection\data (1)\Support_part_5_hm\boxplots_north_se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934336"/>
            <a:ext cx="3240000" cy="217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29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-43226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Картирование в контексте различных экологических данных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1884586" y="203303"/>
            <a:ext cx="1276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Карта станций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E1A7FB-3C82-FB53-BC90-FA6ED2395920}"/>
              </a:ext>
            </a:extLst>
          </p:cNvPr>
          <p:cNvSpPr txBox="1"/>
          <p:nvPr/>
        </p:nvSpPr>
        <p:spPr>
          <a:xfrm>
            <a:off x="5803504" y="267494"/>
            <a:ext cx="20842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Выделение групп на </a:t>
            </a:r>
            <a:r>
              <a:rPr lang="en-US" sz="1100" b="1" dirty="0">
                <a:latin typeface="Helvetica" pitchFamily="2" charset="0"/>
              </a:rPr>
              <a:t>UMAP</a:t>
            </a:r>
            <a:endParaRPr lang="ru-RU" sz="1100" b="1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22929-F388-5CF7-3931-60DA8AE0A59D}"/>
              </a:ext>
            </a:extLst>
          </p:cNvPr>
          <p:cNvSpPr txBox="1"/>
          <p:nvPr/>
        </p:nvSpPr>
        <p:spPr>
          <a:xfrm>
            <a:off x="6044362" y="2690477"/>
            <a:ext cx="1617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Диаграммы размаха</a:t>
            </a:r>
          </a:p>
        </p:txBody>
      </p:sp>
      <p:pic>
        <p:nvPicPr>
          <p:cNvPr id="2054" name="Picture 6" descr="C:\Users\vladk\OneDrive\Рабочий стол\lection\data (1)\Support_part_5_hm\01_just_map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22" y="437499"/>
            <a:ext cx="2952000" cy="217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vladk\OneDrive\Рабочий стол\lection\data (1)\Support_part_5_hm\02_comm_map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28" y="2913043"/>
            <a:ext cx="2952000" cy="217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9122929-F388-5CF7-3931-60DA8AE0A59D}"/>
              </a:ext>
            </a:extLst>
          </p:cNvPr>
          <p:cNvSpPr txBox="1"/>
          <p:nvPr/>
        </p:nvSpPr>
        <p:spPr>
          <a:xfrm>
            <a:off x="1394894" y="2674294"/>
            <a:ext cx="22140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b="1" dirty="0">
                <a:latin typeface="Helvetica" pitchFamily="2" charset="0"/>
              </a:rPr>
              <a:t>Тип сообщества на станциях</a:t>
            </a:r>
          </a:p>
        </p:txBody>
      </p:sp>
      <p:pic>
        <p:nvPicPr>
          <p:cNvPr id="1026" name="Picture 2" descr="C:\Users\vladk\OneDrive\Рабочий стол\lection\data (1)\Support_part_5_hm\umap_north_se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616" y="529104"/>
            <a:ext cx="3240000" cy="215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188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30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64" y="-5298"/>
            <a:ext cx="8229600" cy="349548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Картирование в контексте различных экологических данных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1294748" y="327058"/>
            <a:ext cx="2252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Карта сообществ по </a:t>
            </a:r>
            <a:r>
              <a:rPr lang="en-US" sz="1000" b="1" dirty="0">
                <a:latin typeface="Helvetica" pitchFamily="2" charset="0"/>
              </a:rPr>
              <a:t>h3 </a:t>
            </a:r>
            <a:r>
              <a:rPr lang="ru-RU" sz="1000" b="1" dirty="0">
                <a:latin typeface="Helvetica" pitchFamily="2" charset="0"/>
              </a:rPr>
              <a:t>ячейкам</a:t>
            </a:r>
            <a:endParaRPr lang="ru-RU" sz="1000" dirty="0">
              <a:latin typeface="Helvetica" pitchFamily="2" charset="0"/>
            </a:endParaRPr>
          </a:p>
        </p:txBody>
      </p:sp>
      <p:pic>
        <p:nvPicPr>
          <p:cNvPr id="2051" name="Picture 3" descr="C:\Users\vladk\OneDrive\Рабочий стол\lection\data (1)\Support_part_5_hm\03_map_h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88" y="557857"/>
            <a:ext cx="2880000" cy="212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5283214" y="404224"/>
            <a:ext cx="31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Карта сообществ – диаграмма Вороного</a:t>
            </a:r>
            <a:endParaRPr lang="ru-RU" sz="1000" dirty="0">
              <a:latin typeface="Helvetic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4535489" y="2750965"/>
            <a:ext cx="46085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Карта сообществ по данным батиметрии, температуры и солености</a:t>
            </a:r>
            <a:endParaRPr lang="ru-RU" sz="1000" dirty="0"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ED6A05-BD19-BDF6-A173-BEFF1DA92CCC}"/>
              </a:ext>
            </a:extLst>
          </p:cNvPr>
          <p:cNvSpPr txBox="1"/>
          <p:nvPr/>
        </p:nvSpPr>
        <p:spPr>
          <a:xfrm>
            <a:off x="1039835" y="2751978"/>
            <a:ext cx="27992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>
                <a:latin typeface="Helvetica" pitchFamily="2" charset="0"/>
              </a:rPr>
              <a:t>Карта сообществ по данным батиметрии</a:t>
            </a:r>
            <a:endParaRPr lang="ru-RU" sz="1000" dirty="0">
              <a:latin typeface="Helvetica" pitchFamily="2" charset="0"/>
            </a:endParaRPr>
          </a:p>
        </p:txBody>
      </p:sp>
      <p:pic>
        <p:nvPicPr>
          <p:cNvPr id="1028" name="Picture 4" descr="C:\Users\vladk\OneDrive\Рабочий стол\lection\data (1)\Support_part_5_hm\03_map_ml_bathy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00" y="2970533"/>
            <a:ext cx="2880000" cy="212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1101BF-E259-B3B8-E431-F1E0EFE36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964803"/>
            <a:ext cx="2880000" cy="21237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C5A1CA-FFB7-D0C2-2448-F46E9EBDDD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5" b="8336"/>
          <a:stretch>
            <a:fillRect/>
          </a:stretch>
        </p:blipFill>
        <p:spPr>
          <a:xfrm>
            <a:off x="5220072" y="650445"/>
            <a:ext cx="2880000" cy="201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91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03FB7-60C8-5F3A-FF16-56659665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DD3985-592F-3614-3C95-1F1F325B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DD6B7-6CBC-17F3-5678-DB7689A5D3B2}"/>
              </a:ext>
            </a:extLst>
          </p:cNvPr>
          <p:cNvSpPr txBox="1"/>
          <p:nvPr/>
        </p:nvSpPr>
        <p:spPr>
          <a:xfrm>
            <a:off x="2753457" y="137689"/>
            <a:ext cx="36370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25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  <a:ea typeface="+mj-ea"/>
                <a:cs typeface="+mj-cs"/>
              </a:rPr>
              <a:t>Спасибо за внимание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98504E-CDA5-8EBA-8465-FFAA156F5A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65" y="1203598"/>
            <a:ext cx="1080000" cy="108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CAF6CB-7135-F725-A0A2-C49220E51BB3}"/>
              </a:ext>
            </a:extLst>
          </p:cNvPr>
          <p:cNvSpPr txBox="1"/>
          <p:nvPr/>
        </p:nvSpPr>
        <p:spPr>
          <a:xfrm>
            <a:off x="0" y="557606"/>
            <a:ext cx="284380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email: vlad.kozlovskii@marine-rc.ru</a:t>
            </a:r>
          </a:p>
          <a:p>
            <a:pPr>
              <a:spcBef>
                <a:spcPct val="0"/>
              </a:spcBef>
            </a:pP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latin typeface="Helvetica" pitchFamily="2" charset="0"/>
                <a:ea typeface="+mj-ea"/>
                <a:cs typeface="+mj-cs"/>
              </a:rPr>
              <a:t>github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  <a:ea typeface="+mj-ea"/>
                <a:cs typeface="+mj-cs"/>
              </a:rPr>
              <a:t>: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latin typeface="Helvetica" pitchFamily="2" charset="0"/>
                <a:ea typeface="+mj-ea"/>
                <a:cs typeface="+mj-cs"/>
              </a:rPr>
              <a:t>vladkozlovskii</a:t>
            </a:r>
            <a:endParaRPr lang="ru-RU" sz="1200" b="1" dirty="0">
              <a:solidFill>
                <a:schemeClr val="bg1">
                  <a:lumMod val="85000"/>
                </a:schemeClr>
              </a:solidFill>
              <a:latin typeface="Helvetica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46197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2D1277F-3DD6-7392-5FBD-E5D56AA34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213735"/>
            <a:ext cx="2709019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186420-885B-B9D3-86BD-C72F71B3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32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5A6BE8E-7062-C1AC-F3A6-B342AA7E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318592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Дополнение про ординации</a:t>
            </a:r>
          </a:p>
        </p:txBody>
      </p:sp>
      <p:pic>
        <p:nvPicPr>
          <p:cNvPr id="6" name="Рисунок 5" descr="Изображение выглядит как текст, снимок экрана, диаграмм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1D746CFD-80FC-6DC1-47BF-C3CC288ADA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" t="13399" r="4764" b="13399"/>
          <a:stretch/>
        </p:blipFill>
        <p:spPr>
          <a:xfrm>
            <a:off x="5336522" y="608574"/>
            <a:ext cx="3600000" cy="2209887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8D585EDE-B2D2-E057-EB92-21CF488A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265" y="3241107"/>
            <a:ext cx="2137021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8">
            <a:extLst>
              <a:ext uri="{FF2B5EF4-FFF2-40B4-BE49-F238E27FC236}">
                <a16:creationId xmlns:a16="http://schemas.microsoft.com/office/drawing/2014/main" id="{73C78976-76DF-4EE0-E403-D5DEAED14B88}"/>
              </a:ext>
            </a:extLst>
          </p:cNvPr>
          <p:cNvSpPr txBox="1"/>
          <p:nvPr/>
        </p:nvSpPr>
        <p:spPr>
          <a:xfrm>
            <a:off x="3508799" y="2885293"/>
            <a:ext cx="12636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1100" b="1" dirty="0">
                <a:latin typeface="Helvetica" pitchFamily="2" charset="0"/>
              </a:rPr>
              <a:t>Карта станций </a:t>
            </a:r>
            <a:endParaRPr lang="ru-RU" sz="1100" dirty="0">
              <a:latin typeface="Helvetica" pitchFamily="2" charset="0"/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12B29E35-C5E0-78DD-9437-1E044C2B76C3}"/>
              </a:ext>
            </a:extLst>
          </p:cNvPr>
          <p:cNvSpPr txBox="1"/>
          <p:nvPr/>
        </p:nvSpPr>
        <p:spPr>
          <a:xfrm>
            <a:off x="5172115" y="2885293"/>
            <a:ext cx="39288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ru-RU" sz="1100" b="1" dirty="0">
                <a:latin typeface="Helvetica" pitchFamily="2" charset="0"/>
              </a:rPr>
              <a:t>MDS </a:t>
            </a:r>
            <a:r>
              <a:rPr lang="ru-RU" altLang="ru-RU" sz="1100" b="1" dirty="0">
                <a:latin typeface="Helvetica" pitchFamily="2" charset="0"/>
              </a:rPr>
              <a:t>по данным о расстоянии между станциями</a:t>
            </a:r>
            <a:endParaRPr lang="ru-RU" sz="1100" b="1" dirty="0">
              <a:latin typeface="Helvetica" pitchFamily="2" charset="0"/>
            </a:endParaRPr>
          </a:p>
        </p:txBody>
      </p:sp>
      <p:sp>
        <p:nvSpPr>
          <p:cNvPr id="11" name="TextBox 21">
            <a:extLst>
              <a:ext uri="{FF2B5EF4-FFF2-40B4-BE49-F238E27FC236}">
                <a16:creationId xmlns:a16="http://schemas.microsoft.com/office/drawing/2014/main" id="{21376E5A-1436-2172-8B98-E1A606C14A06}"/>
              </a:ext>
            </a:extLst>
          </p:cNvPr>
          <p:cNvSpPr txBox="1"/>
          <p:nvPr/>
        </p:nvSpPr>
        <p:spPr>
          <a:xfrm>
            <a:off x="5068037" y="346964"/>
            <a:ext cx="41369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ru-RU" sz="1100" b="1" dirty="0">
                <a:latin typeface="Helvetica" pitchFamily="2" charset="0"/>
              </a:rPr>
              <a:t>MDS </a:t>
            </a:r>
            <a:r>
              <a:rPr lang="ru-RU" altLang="ru-RU" sz="1100" b="1" dirty="0">
                <a:latin typeface="Helvetica" pitchFamily="2" charset="0"/>
              </a:rPr>
              <a:t>по данным о расстоянии между городами Европы</a:t>
            </a:r>
            <a:endParaRPr lang="ru-RU" sz="1100" b="1" dirty="0">
              <a:latin typeface="Helvetica" pitchFamily="2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A3D0F8C-6241-7F4E-EE77-D15484F207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501332"/>
            <a:ext cx="3600000" cy="2348085"/>
          </a:xfrm>
          <a:prstGeom prst="rect">
            <a:avLst/>
          </a:prstGeom>
        </p:spPr>
      </p:pic>
      <p:sp>
        <p:nvSpPr>
          <p:cNvPr id="14" name="TextBox 18">
            <a:extLst>
              <a:ext uri="{FF2B5EF4-FFF2-40B4-BE49-F238E27FC236}">
                <a16:creationId xmlns:a16="http://schemas.microsoft.com/office/drawing/2014/main" id="{C3FF408D-7315-D6F8-DA63-9F028AB00B33}"/>
              </a:ext>
            </a:extLst>
          </p:cNvPr>
          <p:cNvSpPr txBox="1"/>
          <p:nvPr/>
        </p:nvSpPr>
        <p:spPr>
          <a:xfrm>
            <a:off x="2411760" y="357429"/>
            <a:ext cx="504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latin typeface="Helvetica" pitchFamily="2" charset="0"/>
              </a:rPr>
              <a:t>CCA</a:t>
            </a:r>
            <a:endParaRPr lang="ru-RU" sz="11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4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0C009D-58DC-9A70-025F-EC27E1B0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33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438DAA8-EB17-4238-18B3-E48D396FE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318592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Helvetica" pitchFamily="2" charset="0"/>
              </a:rPr>
              <a:t>Дополнение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E110C6F-18BA-13E7-E74C-5640A0E640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778252"/>
            <a:ext cx="3600000" cy="361092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7FDB77-A721-937D-E07C-924757170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778252"/>
            <a:ext cx="3600000" cy="23320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A1940B-1EF8-454F-A8F7-A830CDC51FE3}"/>
              </a:ext>
            </a:extLst>
          </p:cNvPr>
          <p:cNvSpPr txBox="1"/>
          <p:nvPr/>
        </p:nvSpPr>
        <p:spPr>
          <a:xfrm>
            <a:off x="179512" y="369138"/>
            <a:ext cx="329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Helvetica" pitchFamily="2" charset="0"/>
              </a:rPr>
              <a:t>Спутниковые данные</a:t>
            </a:r>
            <a:endParaRPr lang="ru-RU" sz="12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8D595-2B76-7A80-0AF9-CA4D1708B07C}"/>
              </a:ext>
            </a:extLst>
          </p:cNvPr>
          <p:cNvSpPr txBox="1"/>
          <p:nvPr/>
        </p:nvSpPr>
        <p:spPr>
          <a:xfrm>
            <a:off x="4211960" y="369138"/>
            <a:ext cx="329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Helvetica" pitchFamily="2" charset="0"/>
              </a:rPr>
              <a:t>Clustermap</a:t>
            </a:r>
            <a:endParaRPr lang="ru-RU" sz="1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4905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7137</TotalTime>
  <Words>1913</Words>
  <Application>Microsoft Office PowerPoint</Application>
  <PresentationFormat>Экран (16:9)</PresentationFormat>
  <Paragraphs>852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Helvetica</vt:lpstr>
      <vt:lpstr>Helvetica Neue</vt:lpstr>
      <vt:lpstr>Тема Office</vt:lpstr>
      <vt:lpstr>Океан цифр: визуализация и машинное обучение в анализе морских данных</vt:lpstr>
      <vt:lpstr>Вопросы анализа морских экологических данных</vt:lpstr>
      <vt:lpstr>Вопросы анализа морских экологических данных</vt:lpstr>
      <vt:lpstr>Показатели качества морской среды</vt:lpstr>
      <vt:lpstr>Показатели качества морской среды</vt:lpstr>
      <vt:lpstr>Стандартные подходы к аналитике гидробиологических данных</vt:lpstr>
      <vt:lpstr>Стандартные подходы к аналитике гидробиологических данных</vt:lpstr>
      <vt:lpstr>Стандартные подходы к аналитике гидробиологических данных</vt:lpstr>
      <vt:lpstr>Стандартные подходы к аналитике гидробиологических данных</vt:lpstr>
      <vt:lpstr>Стандартные подходы к аналитике гидробиологических данных</vt:lpstr>
      <vt:lpstr>Стандартные подходы к аналитике гидробиологических данных</vt:lpstr>
      <vt:lpstr>Стандартные подходы к аналитике гидробиологических данных</vt:lpstr>
      <vt:lpstr>Визуализации морских экологических данных</vt:lpstr>
      <vt:lpstr>Визуализации морских экологических данных</vt:lpstr>
      <vt:lpstr>Визуализации данных о морских биологических сообществах</vt:lpstr>
      <vt:lpstr>Визуализации морских экологических данных</vt:lpstr>
      <vt:lpstr>Визуализации данных о морских биологических сообществах</vt:lpstr>
      <vt:lpstr>Визуализации данных о морских биологических сообществах</vt:lpstr>
      <vt:lpstr>Визуализации данных о морских биологических сообществах</vt:lpstr>
      <vt:lpstr>Визуализации данных о морских биологических сообществах</vt:lpstr>
      <vt:lpstr>Визуализации данных о морских биологических сообществах</vt:lpstr>
      <vt:lpstr>Визуализации морских экологических данных</vt:lpstr>
      <vt:lpstr>Визуализации данных о морских биологических сообществах</vt:lpstr>
      <vt:lpstr>Визуализации данных о морских биологических сообществах</vt:lpstr>
      <vt:lpstr>Компьютерное зрение в гидробиологии</vt:lpstr>
      <vt:lpstr>Компьютерное зрение в гидробиологии</vt:lpstr>
      <vt:lpstr>Картирование в контексте различных экологических данных</vt:lpstr>
      <vt:lpstr>Визуализации морских экологических данных</vt:lpstr>
      <vt:lpstr>Картирование в контексте различных экологических данных</vt:lpstr>
      <vt:lpstr>Картирование в контексте различных экологических данных</vt:lpstr>
      <vt:lpstr>Презентация PowerPoint</vt:lpstr>
      <vt:lpstr>Дополнение про ординации</vt:lpstr>
      <vt:lpstr>Дополнение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Vlad Kozlovskiy</dc:creator>
  <cp:lastModifiedBy>Владислав Козловский</cp:lastModifiedBy>
  <cp:revision>156</cp:revision>
  <dcterms:created xsi:type="dcterms:W3CDTF">2025-11-22T14:41:59Z</dcterms:created>
  <dcterms:modified xsi:type="dcterms:W3CDTF">2025-12-17T15:57:38Z</dcterms:modified>
</cp:coreProperties>
</file>